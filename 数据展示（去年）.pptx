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notesSlides/notesSlide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notesSlides/notesSlide6.xml" ContentType="application/vnd.openxmlformats-officedocument.presentationml.notesSlide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notesSlides/notesSlide7.xml" ContentType="application/vnd.openxmlformats-officedocument.presentationml.notesSlide+xml"/>
  <Override PartName="/ppt/charts/chart10.xml" ContentType="application/vnd.openxmlformats-officedocument.drawingml.chart+xml"/>
  <Override PartName="/ppt/theme/themeOverride1.xml" ContentType="application/vnd.openxmlformats-officedocument.themeOverride+xml"/>
  <Override PartName="/ppt/charts/chart11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notesSlides/notesSlide8.xml" ContentType="application/vnd.openxmlformats-officedocument.presentationml.notesSlide+xml"/>
  <Override PartName="/ppt/charts/chart12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heme/themeOverride2.xml" ContentType="application/vnd.openxmlformats-officedocument.themeOverride+xml"/>
  <Override PartName="/ppt/charts/chart13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notesSlides/notesSlide9.xml" ContentType="application/vnd.openxmlformats-officedocument.presentationml.notesSlide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53" r:id="rId2"/>
    <p:sldId id="357" r:id="rId3"/>
    <p:sldId id="358" r:id="rId4"/>
    <p:sldId id="359" r:id="rId5"/>
    <p:sldId id="350" r:id="rId6"/>
    <p:sldId id="387" r:id="rId7"/>
    <p:sldId id="367" r:id="rId8"/>
    <p:sldId id="407" r:id="rId9"/>
    <p:sldId id="378" r:id="rId10"/>
  </p:sldIdLst>
  <p:sldSz cx="12192000" cy="6858000"/>
  <p:notesSz cx="6858000" cy="9144000"/>
  <p:custDataLst>
    <p:tags r:id="rId13"/>
  </p:custDataLst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8" userDrawn="1">
          <p15:clr>
            <a:srgbClr val="A4A3A4"/>
          </p15:clr>
        </p15:guide>
        <p15:guide id="2" pos="4046" userDrawn="1">
          <p15:clr>
            <a:srgbClr val="A4A3A4"/>
          </p15:clr>
        </p15:guide>
        <p15:guide id="3" pos="453" userDrawn="1">
          <p15:clr>
            <a:srgbClr val="A4A3A4"/>
          </p15:clr>
        </p15:guide>
        <p15:guide id="4" pos="7218" userDrawn="1">
          <p15:clr>
            <a:srgbClr val="A4A3A4"/>
          </p15:clr>
        </p15:guide>
        <p15:guide id="5" orient="horz" pos="608" userDrawn="1">
          <p15:clr>
            <a:srgbClr val="A4A3A4"/>
          </p15:clr>
        </p15:guide>
        <p15:guide id="6" orient="horz" pos="37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97487" initials="9" lastIdx="3" clrIdx="10"/>
  <p:cmAuthor id="1" name="宋洁然" initials="宋" lastIdx="2" clrIdx="1"/>
  <p:cmAuthor id="8" name="lenovo" initials="l" lastIdx="6" clrIdx="2"/>
  <p:cmAuthor id="2" name="Mia Vida Villanueva" initials="MVV" lastIdx="1" clrIdx="0"/>
  <p:cmAuthor id="9" name="王习习" initials="王" lastIdx="2" clrIdx="0"/>
  <p:cmAuthor id="3" name="ming qiu" initials="m" lastIdx="17" clrIdx="1"/>
  <p:cmAuthor id="4" name="1206988966@qq.com" initials="1" lastIdx="1" clrIdx="2"/>
  <p:cmAuthor id="5" name="Aozin" initials="A" lastIdx="2" clrIdx="8"/>
  <p:cmAuthor id="6" name="姜伟光" initials="姜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F2D9"/>
    <a:srgbClr val="ED7D31"/>
    <a:srgbClr val="5B9BD5"/>
    <a:srgbClr val="005D97"/>
    <a:srgbClr val="FFFFFF"/>
    <a:srgbClr val="00B050"/>
    <a:srgbClr val="9DC3E6"/>
    <a:srgbClr val="F9EDED"/>
    <a:srgbClr val="EBEEF2"/>
    <a:srgbClr val="86DBB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0D7AF3C-989B-4428-9103-F5D05130DF78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1905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1">
              <a:lumMod val="10001"/>
              <a:lumOff val="89999"/>
            </a:schemeClr>
          </a:solidFill>
        </a:fill>
      </a:tcStyle>
    </a:band2H>
    <a:band1V>
      <a:tcStyle>
        <a:tcBdr/>
        <a:fill>
          <a:solidFill>
            <a:schemeClr val="accent1">
              <a:lumMod val="10001"/>
              <a:lumOff val="89999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chemeClr val="accent1">
              <a:lumMod val="20002"/>
              <a:lumOff val="79998"/>
            </a:schemeClr>
          </a:solidFill>
        </a:fill>
      </a:tcStyle>
    </a:lastCol>
    <a:firstCol>
      <a:tcTxStyle b="on">
        <a:fontRef idx="none">
          <a:schemeClr val="accent1"/>
        </a:fontRef>
      </a:tcTxStyle>
      <a:tcStyle>
        <a:tcBdr/>
        <a:fill>
          <a:solidFill>
            <a:schemeClr val="accent1">
              <a:lumMod val="20002"/>
              <a:lumOff val="79998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chemeClr val="accent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289" autoAdjust="0"/>
  </p:normalViewPr>
  <p:slideViewPr>
    <p:cSldViewPr snapToGrid="0" showGuides="1">
      <p:cViewPr varScale="1">
        <p:scale>
          <a:sx n="95" d="100"/>
          <a:sy n="95" d="100"/>
        </p:scale>
        <p:origin x="108" y="282"/>
      </p:cViewPr>
      <p:guideLst>
        <p:guide orient="horz" pos="2138"/>
        <p:guide pos="4046"/>
        <p:guide pos="453"/>
        <p:guide pos="7218"/>
        <p:guide orient="horz" pos="608"/>
        <p:guide orient="horz" pos="37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1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9.xlsx"/><Relationship Id="rId1" Type="http://schemas.openxmlformats.org/officeDocument/2006/relationships/themeOverride" Target="../theme/themeOverride1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8.xml"/><Relationship Id="rId1" Type="http://schemas.microsoft.com/office/2011/relationships/chartStyle" Target="style8.xml"/><Relationship Id="rId4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2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综合收费率</a:t>
            </a:r>
          </a:p>
        </c:rich>
      </c:tx>
      <c:layout>
        <c:manualLayout>
          <c:xMode val="edge"/>
          <c:yMode val="edge"/>
          <c:x val="0.44823854755320403"/>
          <c:y val="2.356103731815310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6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8190453288445401E-2"/>
          <c:y val="7.0129664769133501E-2"/>
          <c:w val="0.93858362390284999"/>
          <c:h val="0.7774984187223280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3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昆明</c:v>
                </c:pt>
                <c:pt idx="2">
                  <c:v>闽江</c:v>
                </c:pt>
                <c:pt idx="3">
                  <c:v>腾冲</c:v>
                </c:pt>
                <c:pt idx="4">
                  <c:v>滨湖</c:v>
                </c:pt>
                <c:pt idx="5">
                  <c:v>北京</c:v>
                </c:pt>
                <c:pt idx="6">
                  <c:v>北城</c:v>
                </c:pt>
                <c:pt idx="7">
                  <c:v>宁波</c:v>
                </c:pt>
                <c:pt idx="8">
                  <c:v>贵阳</c:v>
                </c:pt>
                <c:pt idx="9">
                  <c:v>长沙</c:v>
                </c:pt>
                <c:pt idx="10">
                  <c:v>罗源</c:v>
                </c:pt>
                <c:pt idx="11">
                  <c:v>版纳</c:v>
                </c:pt>
                <c:pt idx="12">
                  <c:v>连江</c:v>
                </c:pt>
                <c:pt idx="13">
                  <c:v>阜阳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0.89287716301706999</c:v>
                </c:pt>
                <c:pt idx="1">
                  <c:v>0.93184822486634999</c:v>
                </c:pt>
                <c:pt idx="2">
                  <c:v>0.94255406241650697</c:v>
                </c:pt>
                <c:pt idx="3">
                  <c:v>0.91473205418694803</c:v>
                </c:pt>
                <c:pt idx="4">
                  <c:v>0.92034136714222403</c:v>
                </c:pt>
                <c:pt idx="5">
                  <c:v>0.91143528470316904</c:v>
                </c:pt>
                <c:pt idx="6">
                  <c:v>0.89412722213731199</c:v>
                </c:pt>
                <c:pt idx="7">
                  <c:v>0.89380184937016105</c:v>
                </c:pt>
                <c:pt idx="8">
                  <c:v>0.89837893635613097</c:v>
                </c:pt>
                <c:pt idx="9">
                  <c:v>0.87466732058609997</c:v>
                </c:pt>
                <c:pt idx="10">
                  <c:v>0.84376407787080898</c:v>
                </c:pt>
                <c:pt idx="11">
                  <c:v>0.83887332901059897</c:v>
                </c:pt>
                <c:pt idx="12">
                  <c:v>0.82149624102580998</c:v>
                </c:pt>
                <c:pt idx="13">
                  <c:v>0.81399516035226205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2C9-40F7-966A-42E5F165209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昆明</c:v>
                </c:pt>
                <c:pt idx="2">
                  <c:v>闽江</c:v>
                </c:pt>
                <c:pt idx="3">
                  <c:v>腾冲</c:v>
                </c:pt>
                <c:pt idx="4">
                  <c:v>滨湖</c:v>
                </c:pt>
                <c:pt idx="5">
                  <c:v>北京</c:v>
                </c:pt>
                <c:pt idx="6">
                  <c:v>北城</c:v>
                </c:pt>
                <c:pt idx="7">
                  <c:v>宁波</c:v>
                </c:pt>
                <c:pt idx="8">
                  <c:v>贵阳</c:v>
                </c:pt>
                <c:pt idx="9">
                  <c:v>长沙</c:v>
                </c:pt>
                <c:pt idx="10">
                  <c:v>罗源</c:v>
                </c:pt>
                <c:pt idx="11">
                  <c:v>版纳</c:v>
                </c:pt>
                <c:pt idx="12">
                  <c:v>连江</c:v>
                </c:pt>
                <c:pt idx="13">
                  <c:v>阜阳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0.88163671978462999</c:v>
                </c:pt>
                <c:pt idx="1">
                  <c:v>0.93121101323210798</c:v>
                </c:pt>
                <c:pt idx="2">
                  <c:v>0.92668785172273005</c:v>
                </c:pt>
                <c:pt idx="3">
                  <c:v>0.91572335384146697</c:v>
                </c:pt>
                <c:pt idx="4">
                  <c:v>0.89989329536970397</c:v>
                </c:pt>
                <c:pt idx="5">
                  <c:v>0.89901668988592098</c:v>
                </c:pt>
                <c:pt idx="6">
                  <c:v>0.88517710301372998</c:v>
                </c:pt>
                <c:pt idx="7">
                  <c:v>0.88270249217240804</c:v>
                </c:pt>
                <c:pt idx="8">
                  <c:v>0.87979753088561996</c:v>
                </c:pt>
                <c:pt idx="9">
                  <c:v>0.876830177280851</c:v>
                </c:pt>
                <c:pt idx="10">
                  <c:v>0.84335854885967998</c:v>
                </c:pt>
                <c:pt idx="11">
                  <c:v>0.83664588199783496</c:v>
                </c:pt>
                <c:pt idx="12">
                  <c:v>0.81698575487866298</c:v>
                </c:pt>
                <c:pt idx="13">
                  <c:v>0.73962149865005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2C9-40F7-966A-42E5F165209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.2"/>
          <c:min val="0.2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12807698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1828784417458202"/>
          <c:y val="0.120967741935484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自建项目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3933855526544801E-2"/>
          <c:y val="0.12844842734141601"/>
          <c:w val="0.95213228894691004"/>
          <c:h val="0.689404322614655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昆明</c:v>
                </c:pt>
                <c:pt idx="2">
                  <c:v>滨湖</c:v>
                </c:pt>
                <c:pt idx="3">
                  <c:v>闽江</c:v>
                </c:pt>
                <c:pt idx="4">
                  <c:v>北京</c:v>
                </c:pt>
                <c:pt idx="5">
                  <c:v>长沙</c:v>
                </c:pt>
                <c:pt idx="6">
                  <c:v>腾冲</c:v>
                </c:pt>
                <c:pt idx="7">
                  <c:v>贵阳</c:v>
                </c:pt>
                <c:pt idx="8">
                  <c:v>北城</c:v>
                </c:pt>
                <c:pt idx="9">
                  <c:v>宁波</c:v>
                </c:pt>
                <c:pt idx="10">
                  <c:v>阜阳</c:v>
                </c:pt>
                <c:pt idx="11">
                  <c:v>版纳</c:v>
                </c:pt>
                <c:pt idx="12">
                  <c:v>罗源</c:v>
                </c:pt>
                <c:pt idx="13">
                  <c:v>连江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0.91525775313402002</c:v>
                </c:pt>
                <c:pt idx="1">
                  <c:v>0.96289930223478604</c:v>
                </c:pt>
                <c:pt idx="2">
                  <c:v>0.949408292964385</c:v>
                </c:pt>
                <c:pt idx="3">
                  <c:v>0.94515829708200605</c:v>
                </c:pt>
                <c:pt idx="4">
                  <c:v>0.94326600410236405</c:v>
                </c:pt>
                <c:pt idx="5">
                  <c:v>0.93528874107187299</c:v>
                </c:pt>
                <c:pt idx="6">
                  <c:v>0.93354329268575897</c:v>
                </c:pt>
                <c:pt idx="7">
                  <c:v>0.91568606682915399</c:v>
                </c:pt>
                <c:pt idx="8">
                  <c:v>0.88272173037061896</c:v>
                </c:pt>
                <c:pt idx="9">
                  <c:v>0.87887246140917197</c:v>
                </c:pt>
                <c:pt idx="10">
                  <c:v>0.86164636904663405</c:v>
                </c:pt>
                <c:pt idx="11">
                  <c:v>0.85010893769129403</c:v>
                </c:pt>
                <c:pt idx="12">
                  <c:v>0.81460662335921297</c:v>
                </c:pt>
                <c:pt idx="13">
                  <c:v>0.73962149865005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131-490C-A3BC-F54B3369F9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.2"/>
          <c:min val="0.2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2807698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6131418624891201"/>
          <c:y val="0.125109822526797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外拓项目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3933855526544801E-2"/>
          <c:y val="0.174134598488842"/>
          <c:w val="0.95213228894691004"/>
          <c:h val="0.64635389211034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宁波</c:v>
                </c:pt>
                <c:pt idx="2">
                  <c:v>闽江</c:v>
                </c:pt>
                <c:pt idx="3">
                  <c:v>腾冲</c:v>
                </c:pt>
                <c:pt idx="4">
                  <c:v>连江</c:v>
                </c:pt>
                <c:pt idx="5">
                  <c:v>昆明</c:v>
                </c:pt>
                <c:pt idx="6">
                  <c:v>北城</c:v>
                </c:pt>
                <c:pt idx="7">
                  <c:v>版纳</c:v>
                </c:pt>
                <c:pt idx="8">
                  <c:v>滨湖</c:v>
                </c:pt>
                <c:pt idx="9">
                  <c:v>罗源</c:v>
                </c:pt>
                <c:pt idx="10">
                  <c:v>北京</c:v>
                </c:pt>
                <c:pt idx="11">
                  <c:v>贵阳</c:v>
                </c:pt>
                <c:pt idx="12">
                  <c:v>阜阳</c:v>
                </c:pt>
                <c:pt idx="13">
                  <c:v>长沙</c:v>
                </c:pt>
              </c:strCache>
            </c:strRef>
          </c:cat>
          <c:val>
            <c:numRef>
              <c:f>Sheet1!$C$2:$C$15</c:f>
              <c:numCache>
                <c:formatCode>0.00%</c:formatCode>
                <c:ptCount val="14"/>
                <c:pt idx="0">
                  <c:v>0.78554502587358399</c:v>
                </c:pt>
                <c:pt idx="1">
                  <c:v>0.88210878912215396</c:v>
                </c:pt>
                <c:pt idx="2">
                  <c:v>0.86129175182601203</c:v>
                </c:pt>
                <c:pt idx="3">
                  <c:v>0.85834876173014396</c:v>
                </c:pt>
                <c:pt idx="4">
                  <c:v>0.83381364268459501</c:v>
                </c:pt>
                <c:pt idx="5">
                  <c:v>0.82963157746191596</c:v>
                </c:pt>
                <c:pt idx="6">
                  <c:v>0.81600369207700996</c:v>
                </c:pt>
                <c:pt idx="7">
                  <c:v>0.79321224943826996</c:v>
                </c:pt>
                <c:pt idx="8">
                  <c:v>0.79128515823706502</c:v>
                </c:pt>
                <c:pt idx="9">
                  <c:v>0.79087213569176396</c:v>
                </c:pt>
                <c:pt idx="10">
                  <c:v>0.790716307173705</c:v>
                </c:pt>
                <c:pt idx="11">
                  <c:v>0.77219826215913201</c:v>
                </c:pt>
                <c:pt idx="12">
                  <c:v>0.59785744620905101</c:v>
                </c:pt>
                <c:pt idx="13">
                  <c:v>0.52276672017102999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C1-46CD-800C-594DE6F14A6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.2"/>
          <c:min val="0.2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crossAx val="12807698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6914708442123603"/>
          <c:y val="0.13793709365665099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6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综合收费率</a:t>
            </a:r>
          </a:p>
        </c:rich>
      </c:tx>
      <c:layout>
        <c:manualLayout>
          <c:xMode val="edge"/>
          <c:yMode val="edge"/>
          <c:x val="0.44908019718648501"/>
          <c:y val="2.3561037318153101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6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4.8190453288445401E-2"/>
          <c:y val="7.2343453510436403E-2"/>
          <c:w val="0.93858362390284999"/>
          <c:h val="0.7754111321948129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2024年</c:v>
                </c:pt>
              </c:strCache>
            </c:strRef>
          </c:tx>
          <c:spPr>
            <a:solidFill>
              <a:schemeClr val="accent3">
                <a:lumMod val="8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闽江</c:v>
                </c:pt>
                <c:pt idx="2">
                  <c:v>滨湖</c:v>
                </c:pt>
                <c:pt idx="3">
                  <c:v>阜阳</c:v>
                </c:pt>
                <c:pt idx="4">
                  <c:v>罗源</c:v>
                </c:pt>
                <c:pt idx="5">
                  <c:v>贵阳</c:v>
                </c:pt>
                <c:pt idx="6">
                  <c:v>北城</c:v>
                </c:pt>
                <c:pt idx="7">
                  <c:v>宁波</c:v>
                </c:pt>
                <c:pt idx="8">
                  <c:v>北京</c:v>
                </c:pt>
                <c:pt idx="9">
                  <c:v>连江</c:v>
                </c:pt>
                <c:pt idx="10">
                  <c:v>版纳</c:v>
                </c:pt>
                <c:pt idx="11">
                  <c:v>腾冲</c:v>
                </c:pt>
                <c:pt idx="12">
                  <c:v>昆明</c:v>
                </c:pt>
                <c:pt idx="13">
                  <c:v>长沙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0.50632933695283</c:v>
                </c:pt>
                <c:pt idx="1">
                  <c:v>0.70898688566961099</c:v>
                </c:pt>
                <c:pt idx="2">
                  <c:v>0.79215211450217604</c:v>
                </c:pt>
                <c:pt idx="3">
                  <c:v>0.77587422783636795</c:v>
                </c:pt>
                <c:pt idx="4">
                  <c:v>0.57478295592784701</c:v>
                </c:pt>
                <c:pt idx="5">
                  <c:v>0.53459442890750297</c:v>
                </c:pt>
                <c:pt idx="6">
                  <c:v>0.70238034944331396</c:v>
                </c:pt>
                <c:pt idx="7">
                  <c:v>0.62663163350303697</c:v>
                </c:pt>
                <c:pt idx="8">
                  <c:v>0.49812511136358201</c:v>
                </c:pt>
                <c:pt idx="9">
                  <c:v>0.50530468428941999</c:v>
                </c:pt>
                <c:pt idx="10">
                  <c:v>0.376936255957318</c:v>
                </c:pt>
                <c:pt idx="11">
                  <c:v>0.30210683148492901</c:v>
                </c:pt>
                <c:pt idx="12">
                  <c:v>0.25274790844989098</c:v>
                </c:pt>
                <c:pt idx="13">
                  <c:v>0.26917402908126697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8A-4281-B1F4-79AB8DAFBAB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闽江</c:v>
                </c:pt>
                <c:pt idx="2">
                  <c:v>滨湖</c:v>
                </c:pt>
                <c:pt idx="3">
                  <c:v>阜阳</c:v>
                </c:pt>
                <c:pt idx="4">
                  <c:v>罗源</c:v>
                </c:pt>
                <c:pt idx="5">
                  <c:v>贵阳</c:v>
                </c:pt>
                <c:pt idx="6">
                  <c:v>北城</c:v>
                </c:pt>
                <c:pt idx="7">
                  <c:v>宁波</c:v>
                </c:pt>
                <c:pt idx="8">
                  <c:v>北京</c:v>
                </c:pt>
                <c:pt idx="9">
                  <c:v>连江</c:v>
                </c:pt>
                <c:pt idx="10">
                  <c:v>版纳</c:v>
                </c:pt>
                <c:pt idx="11">
                  <c:v>腾冲</c:v>
                </c:pt>
                <c:pt idx="12">
                  <c:v>昆明</c:v>
                </c:pt>
                <c:pt idx="13">
                  <c:v>长沙</c:v>
                </c:pt>
              </c:strCache>
            </c:strRef>
          </c:cat>
          <c:val>
            <c:numRef>
              <c:f>Sheet1!$C$2:$C$15</c:f>
              <c:numCache>
                <c:formatCode>0%</c:formatCode>
                <c:ptCount val="14"/>
                <c:pt idx="0">
                  <c:v>0.46850388063742998</c:v>
                </c:pt>
                <c:pt idx="1">
                  <c:v>0.73913892581042495</c:v>
                </c:pt>
                <c:pt idx="2">
                  <c:v>0.72760059519546205</c:v>
                </c:pt>
                <c:pt idx="3">
                  <c:v>0.71284713353698603</c:v>
                </c:pt>
                <c:pt idx="4">
                  <c:v>0.63236843762054595</c:v>
                </c:pt>
                <c:pt idx="5">
                  <c:v>0.53096123732179601</c:v>
                </c:pt>
                <c:pt idx="6">
                  <c:v>0.51235632173399004</c:v>
                </c:pt>
                <c:pt idx="7">
                  <c:v>0.50633458901420503</c:v>
                </c:pt>
                <c:pt idx="8">
                  <c:v>0.487281142200647</c:v>
                </c:pt>
                <c:pt idx="9">
                  <c:v>0.45524183648354999</c:v>
                </c:pt>
                <c:pt idx="10">
                  <c:v>0.41547836094347901</c:v>
                </c:pt>
                <c:pt idx="11">
                  <c:v>0.266595038787099</c:v>
                </c:pt>
                <c:pt idx="12">
                  <c:v>0.26279920189678901</c:v>
                </c:pt>
                <c:pt idx="13">
                  <c:v>0.23363150554430501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88A-4281-B1F4-79AB8DAFBAB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1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"/>
          <c:min val="0.2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128076983"/>
        <c:crosses val="autoZero"/>
        <c:crossBetween val="between"/>
        <c:majorUnit val="0.3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1828784417458202"/>
          <c:y val="0.120967741935484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自建项目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3933855526544801E-2"/>
          <c:y val="0.12844842734141601"/>
          <c:w val="0.95213228894691004"/>
          <c:h val="0.689404322614655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闽江</c:v>
                </c:pt>
                <c:pt idx="2">
                  <c:v>阜阳</c:v>
                </c:pt>
                <c:pt idx="3">
                  <c:v>昆明</c:v>
                </c:pt>
                <c:pt idx="4">
                  <c:v>滨湖</c:v>
                </c:pt>
                <c:pt idx="5">
                  <c:v>罗源</c:v>
                </c:pt>
                <c:pt idx="6">
                  <c:v>宁波</c:v>
                </c:pt>
                <c:pt idx="7">
                  <c:v>北京</c:v>
                </c:pt>
                <c:pt idx="8">
                  <c:v>北城</c:v>
                </c:pt>
                <c:pt idx="9">
                  <c:v>贵阳</c:v>
                </c:pt>
                <c:pt idx="10">
                  <c:v>版纳</c:v>
                </c:pt>
                <c:pt idx="11">
                  <c:v>连江</c:v>
                </c:pt>
                <c:pt idx="12">
                  <c:v>腾冲</c:v>
                </c:pt>
                <c:pt idx="13">
                  <c:v>长沙</c:v>
                </c:pt>
              </c:strCache>
            </c:strRef>
          </c:cat>
          <c:val>
            <c:numRef>
              <c:f>Sheet1!$C$2:$C$15</c:f>
              <c:numCache>
                <c:formatCode>0.0%</c:formatCode>
                <c:ptCount val="14"/>
                <c:pt idx="0">
                  <c:v>0.52242846895835005</c:v>
                </c:pt>
                <c:pt idx="1">
                  <c:v>0.77556783923924399</c:v>
                </c:pt>
                <c:pt idx="2">
                  <c:v>0.74576996588403099</c:v>
                </c:pt>
                <c:pt idx="3">
                  <c:v>0.70719378844789105</c:v>
                </c:pt>
                <c:pt idx="4">
                  <c:v>0.69836369929416797</c:v>
                </c:pt>
                <c:pt idx="5">
                  <c:v>0.69566314551699904</c:v>
                </c:pt>
                <c:pt idx="6">
                  <c:v>0.58965761984736198</c:v>
                </c:pt>
                <c:pt idx="7">
                  <c:v>0.55718207021947996</c:v>
                </c:pt>
                <c:pt idx="8">
                  <c:v>0.54355009726833303</c:v>
                </c:pt>
                <c:pt idx="9">
                  <c:v>0.47720181442829102</c:v>
                </c:pt>
                <c:pt idx="10">
                  <c:v>0.43999731338279802</c:v>
                </c:pt>
                <c:pt idx="11">
                  <c:v>0.43843559124315601</c:v>
                </c:pt>
                <c:pt idx="12">
                  <c:v>0.34324117813632599</c:v>
                </c:pt>
                <c:pt idx="13">
                  <c:v>0.28932655700281101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48-496D-89F6-4B6DB00CBD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-2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.1000000000000001"/>
          <c:min val="0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%" sourceLinked="1"/>
        <c:majorTickMark val="out"/>
        <c:minorTickMark val="none"/>
        <c:tickLblPos val="nextTo"/>
        <c:crossAx val="12807698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6131418624891201"/>
          <c:y val="0.125109822526797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4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外拓项目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2.3933855526544801E-2"/>
          <c:y val="0.174134598488842"/>
          <c:w val="0.95213228894691004"/>
          <c:h val="0.6463538921103499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2025年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滨湖</c:v>
                </c:pt>
                <c:pt idx="2">
                  <c:v>阜阳</c:v>
                </c:pt>
                <c:pt idx="3">
                  <c:v>闽江</c:v>
                </c:pt>
                <c:pt idx="4">
                  <c:v>连江</c:v>
                </c:pt>
                <c:pt idx="5">
                  <c:v>贵阳</c:v>
                </c:pt>
                <c:pt idx="6">
                  <c:v>北城</c:v>
                </c:pt>
                <c:pt idx="7">
                  <c:v>北京</c:v>
                </c:pt>
                <c:pt idx="8">
                  <c:v>罗源</c:v>
                </c:pt>
                <c:pt idx="9">
                  <c:v>宁波</c:v>
                </c:pt>
                <c:pt idx="10">
                  <c:v>版纳</c:v>
                </c:pt>
                <c:pt idx="11">
                  <c:v>昆明</c:v>
                </c:pt>
                <c:pt idx="12">
                  <c:v>腾冲</c:v>
                </c:pt>
                <c:pt idx="13">
                  <c:v>长沙</c:v>
                </c:pt>
              </c:strCache>
            </c:strRef>
          </c:cat>
          <c:val>
            <c:numRef>
              <c:f>Sheet1!$C$2:$C$15</c:f>
              <c:numCache>
                <c:formatCode>0.0%</c:formatCode>
                <c:ptCount val="14"/>
                <c:pt idx="0">
                  <c:v>0.41456853811525401</c:v>
                </c:pt>
                <c:pt idx="1">
                  <c:v>0.74349583671221597</c:v>
                </c:pt>
                <c:pt idx="2">
                  <c:v>0.69025815355226705</c:v>
                </c:pt>
                <c:pt idx="3">
                  <c:v>0.68296673003589203</c:v>
                </c:pt>
                <c:pt idx="4">
                  <c:v>0.64873725850581498</c:v>
                </c:pt>
                <c:pt idx="5">
                  <c:v>0.56399257808991698</c:v>
                </c:pt>
                <c:pt idx="6">
                  <c:v>0.49237948341947702</c:v>
                </c:pt>
                <c:pt idx="7">
                  <c:v>0.43167303603531199</c:v>
                </c:pt>
                <c:pt idx="8">
                  <c:v>0.38478717054691802</c:v>
                </c:pt>
                <c:pt idx="9">
                  <c:v>0.37579589863895602</c:v>
                </c:pt>
                <c:pt idx="10">
                  <c:v>0.37577356231801201</c:v>
                </c:pt>
                <c:pt idx="11">
                  <c:v>0.21976199315466699</c:v>
                </c:pt>
                <c:pt idx="12">
                  <c:v>0.203492814716175</c:v>
                </c:pt>
                <c:pt idx="13">
                  <c:v>0.197579815762467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657-4D10-984E-659F4539BA7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-25"/>
        <c:axId val="128076983"/>
        <c:axId val="571487034"/>
      </c:barChart>
      <c:catAx>
        <c:axId val="128076983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571487034"/>
        <c:crosses val="autoZero"/>
        <c:auto val="1"/>
        <c:lblAlgn val="ctr"/>
        <c:lblOffset val="100"/>
        <c:noMultiLvlLbl val="0"/>
      </c:catAx>
      <c:valAx>
        <c:axId val="571487034"/>
        <c:scaling>
          <c:orientation val="minMax"/>
          <c:max val="1"/>
          <c:min val="0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0.0%" sourceLinked="1"/>
        <c:majorTickMark val="out"/>
        <c:minorTickMark val="none"/>
        <c:tickLblPos val="nextTo"/>
        <c:crossAx val="128076983"/>
        <c:crosses val="autoZero"/>
        <c:crossBetween val="between"/>
        <c:majorUnit val="0.4"/>
      </c:valAx>
      <c:spPr>
        <a:noFill/>
        <a:ln>
          <a:noFill/>
        </a:ln>
        <a:effectLst/>
      </c:spPr>
    </c:plotArea>
    <c:legend>
      <c:legendPos val="t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zh-CN"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</c:legendEntry>
      <c:layout>
        <c:manualLayout>
          <c:xMode val="edge"/>
          <c:yMode val="edge"/>
          <c:x val="0.76914708442123603"/>
          <c:y val="0.13793709365665099"/>
          <c:w val="0.21840807983648"/>
          <c:h val="5.5028462998102497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e9f46031-85a5-41c0-892f-be656e7ab6e6}"/>
      </c:ext>
    </c:extLst>
  </c:chart>
  <c:spPr>
    <a:noFill/>
    <a:ln>
      <a:solidFill>
        <a:schemeClr val="bg1">
          <a:lumMod val="85000"/>
        </a:schemeClr>
      </a:solidFill>
    </a:ln>
    <a:effectLst/>
  </c:spPr>
  <c:txPr>
    <a:bodyPr/>
    <a:lstStyle/>
    <a:p>
      <a:pPr>
        <a:defRPr lang="zh-CN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555557549245099E-2"/>
          <c:y val="3.45911949685535E-2"/>
          <c:w val="0.77846298496000499"/>
          <c:h val="0.930817610062892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综合收费率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F84-4A43-B55D-EEEBAB52327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F84-4A43-B55D-EEEBAB52327A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5-6F84-4A43-B55D-EEEBAB52327A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7-6F84-4A43-B55D-EEEBAB52327A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6F84-4A43-B55D-EEEBAB52327A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6F84-4A43-B55D-EEEBAB52327A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8-6F84-4A43-B55D-EEEBAB52327A}"/>
                </c:ext>
              </c:extLst>
            </c:dLbl>
            <c:dLbl>
              <c:idx val="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6F84-4A43-B55D-EEEBAB52327A}"/>
                </c:ext>
              </c:extLst>
            </c:dLbl>
            <c:dLbl>
              <c:idx val="4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6F84-4A43-B55D-EEEBAB52327A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6F84-4A43-B55D-EEEBAB52327A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6F84-4A43-B55D-EEEBAB52327A}"/>
                </c:ext>
              </c:extLst>
            </c:dLbl>
            <c:dLbl>
              <c:idx val="7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D-6F84-4A43-B55D-EEEBAB52327A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2D2D2D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罗源</c:v>
                </c:pt>
                <c:pt idx="1">
                  <c:v>闽江</c:v>
                </c:pt>
                <c:pt idx="2">
                  <c:v>昆明</c:v>
                </c:pt>
                <c:pt idx="3">
                  <c:v>贵阳</c:v>
                </c:pt>
                <c:pt idx="4">
                  <c:v>滨湖</c:v>
                </c:pt>
                <c:pt idx="5">
                  <c:v>阜阳</c:v>
                </c:pt>
                <c:pt idx="6">
                  <c:v>版纳</c:v>
                </c:pt>
                <c:pt idx="7">
                  <c:v>连江</c:v>
                </c:pt>
                <c:pt idx="8">
                  <c:v>北京</c:v>
                </c:pt>
                <c:pt idx="9">
                  <c:v>宁波</c:v>
                </c:pt>
                <c:pt idx="10">
                  <c:v>北城</c:v>
                </c:pt>
                <c:pt idx="11">
                  <c:v>长沙</c:v>
                </c:pt>
                <c:pt idx="12">
                  <c:v>腾冲</c:v>
                </c:pt>
                <c:pt idx="13">
                  <c:v>合计</c:v>
                </c:pt>
              </c:strCache>
            </c:strRef>
          </c:cat>
          <c:val>
            <c:numRef>
              <c:f>Sheet1!$B$2:$B$15</c:f>
              <c:numCache>
                <c:formatCode>0.0%</c:formatCode>
                <c:ptCount val="14"/>
                <c:pt idx="0">
                  <c:v>1.0190114068441101</c:v>
                </c:pt>
                <c:pt idx="1">
                  <c:v>1.0041928721174</c:v>
                </c:pt>
                <c:pt idx="2">
                  <c:v>0.97010869565217395</c:v>
                </c:pt>
                <c:pt idx="3">
                  <c:v>0.96206491982792297</c:v>
                </c:pt>
                <c:pt idx="4">
                  <c:v>0.94670280036133703</c:v>
                </c:pt>
                <c:pt idx="5">
                  <c:v>0.90894039735099297</c:v>
                </c:pt>
                <c:pt idx="6">
                  <c:v>0.905910735826297</c:v>
                </c:pt>
                <c:pt idx="7">
                  <c:v>0.90487571701720804</c:v>
                </c:pt>
                <c:pt idx="8">
                  <c:v>0.88577362409138105</c:v>
                </c:pt>
                <c:pt idx="9">
                  <c:v>0.82608695652173902</c:v>
                </c:pt>
                <c:pt idx="10">
                  <c:v>0.79991628296358297</c:v>
                </c:pt>
                <c:pt idx="11">
                  <c:v>0.79494128274616105</c:v>
                </c:pt>
                <c:pt idx="12">
                  <c:v>0.76595744680851097</c:v>
                </c:pt>
                <c:pt idx="13">
                  <c:v>0.89899909008189305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F84-4A43-B55D-EEEBAB52327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.6"/>
        </c:scaling>
        <c:delete val="1"/>
        <c:axPos val="t"/>
        <c:numFmt formatCode="0.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5d651e2-fbc5-48c8-bbe1-834bcd63b4b8}"/>
      </c:ext>
    </c:extLst>
  </c:chart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31980392156863"/>
          <c:y val="3.45911949685535E-2"/>
          <c:w val="0.64786601307189495"/>
          <c:h val="0.930817610062892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自建收费率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AA3-477A-BB01-26DB1C50017C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CAA3-477A-BB01-26DB1C50017C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CAA3-477A-BB01-26DB1C50017C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CAA3-477A-BB01-26DB1C50017C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CAA3-477A-BB01-26DB1C50017C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CAA3-477A-BB01-26DB1C50017C}"/>
              </c:ext>
            </c:extLst>
          </c:dPt>
          <c:dPt>
            <c:idx val="11"/>
            <c:invertIfNegative val="0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D-CAA3-477A-BB01-26DB1C50017C}"/>
              </c:ext>
            </c:extLst>
          </c:dPt>
          <c:dPt>
            <c:idx val="12"/>
            <c:invertIfNegative val="0"/>
            <c:bubble3D val="0"/>
            <c:spPr>
              <a:solidFill>
                <a:srgbClr val="ED7D31"/>
              </a:solidFill>
            </c:spPr>
            <c:extLst>
              <c:ext xmlns:c16="http://schemas.microsoft.com/office/drawing/2014/chart" uri="{C3380CC4-5D6E-409C-BE32-E72D297353CC}">
                <c16:uniqueId val="{0000000F-CAA3-477A-BB01-26DB1C50017C}"/>
              </c:ext>
            </c:extLst>
          </c:dPt>
          <c:dLbls>
            <c:dLbl>
              <c:idx val="0"/>
              <c:layout>
                <c:manualLayout>
                  <c:x val="-5.2916666666666702E-2"/>
                  <c:y val="0"/>
                </c:manualLayout>
              </c:layout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CAA3-477A-BB01-26DB1C50017C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3-CAA3-477A-BB01-26DB1C50017C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CAA3-477A-BB01-26DB1C50017C}"/>
                </c:ext>
              </c:extLst>
            </c:dLbl>
            <c:dLbl>
              <c:idx val="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7-CAA3-477A-BB01-26DB1C50017C}"/>
                </c:ext>
              </c:extLst>
            </c:dLbl>
            <c:dLbl>
              <c:idx val="4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9-CAA3-477A-BB01-26DB1C50017C}"/>
                </c:ext>
              </c:extLst>
            </c:dLbl>
            <c:dLbl>
              <c:idx val="5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CAA3-477A-BB01-26DB1C50017C}"/>
                </c:ext>
              </c:extLst>
            </c:dLbl>
            <c:dLbl>
              <c:idx val="6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0-CAA3-477A-BB01-26DB1C50017C}"/>
                </c:ext>
              </c:extLst>
            </c:dLbl>
            <c:dLbl>
              <c:idx val="7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1-CAA3-477A-BB01-26DB1C50017C}"/>
                </c:ext>
              </c:extLst>
            </c:dLbl>
            <c:dLbl>
              <c:idx val="8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2-CAA3-477A-BB01-26DB1C50017C}"/>
                </c:ext>
              </c:extLst>
            </c:dLbl>
            <c:dLbl>
              <c:idx val="9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3-CAA3-477A-BB01-26DB1C50017C}"/>
                </c:ext>
              </c:extLst>
            </c:dLbl>
            <c:dLbl>
              <c:idx val="1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14-CAA3-477A-BB01-26DB1C50017C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昆明</c:v>
                </c:pt>
                <c:pt idx="1">
                  <c:v>贵阳</c:v>
                </c:pt>
                <c:pt idx="2">
                  <c:v>北京</c:v>
                </c:pt>
                <c:pt idx="3">
                  <c:v>阜阳</c:v>
                </c:pt>
                <c:pt idx="4">
                  <c:v>罗源</c:v>
                </c:pt>
                <c:pt idx="5">
                  <c:v>闽江</c:v>
                </c:pt>
                <c:pt idx="6">
                  <c:v>版纳</c:v>
                </c:pt>
                <c:pt idx="7">
                  <c:v>腾冲</c:v>
                </c:pt>
                <c:pt idx="8">
                  <c:v>长沙</c:v>
                </c:pt>
                <c:pt idx="9">
                  <c:v>连江</c:v>
                </c:pt>
                <c:pt idx="10">
                  <c:v>滨湖</c:v>
                </c:pt>
                <c:pt idx="11">
                  <c:v>宁波</c:v>
                </c:pt>
                <c:pt idx="12">
                  <c:v>北城</c:v>
                </c:pt>
                <c:pt idx="13">
                  <c:v>合计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2.0568181818181799</c:v>
                </c:pt>
                <c:pt idx="1">
                  <c:v>1.42620232172471</c:v>
                </c:pt>
                <c:pt idx="2">
                  <c:v>1.0971283783783801</c:v>
                </c:pt>
                <c:pt idx="3">
                  <c:v>1.0934579439252301</c:v>
                </c:pt>
                <c:pt idx="4">
                  <c:v>1.02543424317618</c:v>
                </c:pt>
                <c:pt idx="5">
                  <c:v>1</c:v>
                </c:pt>
                <c:pt idx="6">
                  <c:v>0.958984375</c:v>
                </c:pt>
                <c:pt idx="7">
                  <c:v>0.95145631067961201</c:v>
                </c:pt>
                <c:pt idx="8">
                  <c:v>0.93668122270742404</c:v>
                </c:pt>
                <c:pt idx="9">
                  <c:v>0.92400881057268702</c:v>
                </c:pt>
                <c:pt idx="10">
                  <c:v>0.91709844559585496</c:v>
                </c:pt>
                <c:pt idx="11">
                  <c:v>0.79614767255216701</c:v>
                </c:pt>
                <c:pt idx="12">
                  <c:v>0.74412041392285999</c:v>
                </c:pt>
                <c:pt idx="13">
                  <c:v>0.97637470339420196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5-CAA3-477A-BB01-26DB1C50017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8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5d651e2-fbc5-48c8-bbe1-834bcd63b4b8}"/>
      </c:ext>
    </c:extLst>
  </c:chart>
  <c:txPr>
    <a:bodyPr/>
    <a:lstStyle/>
    <a:p>
      <a:pPr>
        <a:defRPr lang="zh-CN" sz="800"/>
      </a:pPr>
      <a:endParaRPr lang="zh-CN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82503703703704"/>
          <c:y val="3.3333333333333298E-2"/>
          <c:w val="0.55409629629629598"/>
          <c:h val="0.93081761006289299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外拓收费率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14B-484C-B288-79AC0AA6966B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3-B14B-484C-B288-79AC0AA6966B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5-B14B-484C-B288-79AC0AA6966B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7-B14B-484C-B288-79AC0AA6966B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2"/>
              </a:solidFill>
            </c:spPr>
            <c:extLst>
              <c:ext xmlns:c16="http://schemas.microsoft.com/office/drawing/2014/chart" uri="{C3380CC4-5D6E-409C-BE32-E72D297353CC}">
                <c16:uniqueId val="{00000009-B14B-484C-B288-79AC0AA6966B}"/>
              </c:ext>
            </c:extLst>
          </c:dPt>
          <c:dLbls>
            <c:dLbl>
              <c:idx val="0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1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1-B14B-484C-B288-79AC0AA6966B}"/>
                </c:ext>
              </c:extLst>
            </c:dLbl>
            <c:dLbl>
              <c:idx val="1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7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A-B14B-484C-B288-79AC0AA6966B}"/>
                </c:ext>
              </c:extLst>
            </c:dLbl>
            <c:dLbl>
              <c:idx val="2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B-B14B-484C-B288-79AC0AA6966B}"/>
                </c:ext>
              </c:extLst>
            </c:dLbl>
            <c:dLbl>
              <c:idx val="3"/>
              <c:numFmt formatCode="0.0%" sourceLinked="0"/>
              <c:spPr>
                <a:noFill/>
                <a:ln>
                  <a:noFill/>
                </a:ln>
                <a:effectLst/>
              </c:spPr>
              <c:txPr>
                <a:bodyPr rot="0" spcFirstLastPara="0" vertOverflow="ellipsis" vert="horz" wrap="square" lIns="38100" tIns="19050" rIns="38100" bIns="19050" anchor="ctr" anchorCtr="1"/>
                <a:lstStyle/>
                <a:p>
                  <a:pPr>
                    <a:defRPr lang="zh-CN" sz="800" b="0" i="0" u="none" strike="noStrike" kern="1200" baseline="0">
                      <a:solidFill>
                        <a:srgbClr val="00B050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微软雅黑" panose="020B0503020204020204" pitchFamily="34" charset="-122"/>
                      <a:sym typeface="微软雅黑" panose="020B0503020204020204" pitchFamily="34" charset="-122"/>
                    </a:defRPr>
                  </a:pPr>
                  <a:endParaRPr lang="zh-CN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C-B14B-484C-B288-79AC0AA6966B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微软雅黑" panose="020B0503020204020204" pitchFamily="34" charset="-122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闽江</c:v>
                </c:pt>
                <c:pt idx="1">
                  <c:v>罗源</c:v>
                </c:pt>
                <c:pt idx="2">
                  <c:v>滨湖</c:v>
                </c:pt>
                <c:pt idx="3">
                  <c:v>宁波</c:v>
                </c:pt>
                <c:pt idx="4">
                  <c:v>北城</c:v>
                </c:pt>
                <c:pt idx="5">
                  <c:v>昆明</c:v>
                </c:pt>
                <c:pt idx="6">
                  <c:v>贵阳</c:v>
                </c:pt>
                <c:pt idx="7">
                  <c:v>版纳</c:v>
                </c:pt>
                <c:pt idx="8">
                  <c:v>阜阳</c:v>
                </c:pt>
                <c:pt idx="9">
                  <c:v>连江</c:v>
                </c:pt>
                <c:pt idx="10">
                  <c:v>北京</c:v>
                </c:pt>
                <c:pt idx="11">
                  <c:v>长沙</c:v>
                </c:pt>
                <c:pt idx="12">
                  <c:v>腾冲</c:v>
                </c:pt>
                <c:pt idx="13">
                  <c:v>合计</c:v>
                </c:pt>
              </c:strCache>
            </c:strRef>
          </c:cat>
          <c:val>
            <c:numRef>
              <c:f>Sheet1!$B$2:$B$15</c:f>
              <c:numCache>
                <c:formatCode>0%</c:formatCode>
                <c:ptCount val="14"/>
                <c:pt idx="0">
                  <c:v>1.01162790697674</c:v>
                </c:pt>
                <c:pt idx="1">
                  <c:v>0.97379912663755497</c:v>
                </c:pt>
                <c:pt idx="2">
                  <c:v>0.96255201109569999</c:v>
                </c:pt>
                <c:pt idx="3">
                  <c:v>0.91224018475750601</c:v>
                </c:pt>
                <c:pt idx="4">
                  <c:v>0.84389140271493202</c:v>
                </c:pt>
                <c:pt idx="5">
                  <c:v>0.82253086419753096</c:v>
                </c:pt>
                <c:pt idx="6">
                  <c:v>0.81883316274309104</c:v>
                </c:pt>
                <c:pt idx="7">
                  <c:v>0.817034700315457</c:v>
                </c:pt>
                <c:pt idx="8">
                  <c:v>0.80769230769230804</c:v>
                </c:pt>
                <c:pt idx="9">
                  <c:v>0.78260869565217395</c:v>
                </c:pt>
                <c:pt idx="10">
                  <c:v>0.73958944281524897</c:v>
                </c:pt>
                <c:pt idx="11">
                  <c:v>0.69491525423728795</c:v>
                </c:pt>
                <c:pt idx="12">
                  <c:v>0.54117647058823504</c:v>
                </c:pt>
                <c:pt idx="13">
                  <c:v>0.81566358883079304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B14B-484C-B288-79AC0AA6966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800" b="0" i="0" u="none" strike="noStrike" kern="1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1000000000000001"/>
          <c:min val="0"/>
        </c:scaling>
        <c:delete val="1"/>
        <c:axPos val="t"/>
        <c:numFmt formatCode="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5d651e2-fbc5-48c8-bbe1-834bcd63b4b8}"/>
      </c:ext>
    </c:extLst>
  </c:chart>
  <c:txPr>
    <a:bodyPr/>
    <a:lstStyle/>
    <a:p>
      <a:pPr>
        <a:defRPr lang="zh-CN" sz="800"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/>
          <a:lstStyle/>
          <a:p>
            <a:pPr>
              <a:defRPr/>
            </a:pPr>
            <a:endParaRPr lang="zh-CN" altLang="en-US"/>
          </a:p>
        </c:rich>
      </c:tx>
      <c:layout>
        <c:manualLayout>
          <c:xMode val="edge"/>
          <c:yMode val="edge"/>
          <c:x val="4.7672462142456497E-2"/>
          <c:y val="1.8562267971650399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0.11715177762111"/>
          <c:y val="0.15591397849462399"/>
          <c:w val="0.82644777923255097"/>
          <c:h val="0.72616487455197098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人口</c:v>
                </c:pt>
              </c:strCache>
            </c:strRef>
          </c:tx>
          <c:spPr>
            <a:ln w="19050" cap="rnd" cmpd="sng" algn="ctr">
              <a:noFill/>
              <a:prstDash val="solid"/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50800" cap="flat" cmpd="thinThick" algn="ctr">
                <a:solidFill>
                  <a:schemeClr val="accent1"/>
                </a:solidFill>
                <a:prstDash val="solid"/>
                <a:round/>
              </a:ln>
              <a:effectLst/>
            </c:spPr>
          </c:marker>
          <c:dPt>
            <c:idx val="0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FFC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4E7C-4AF9-B6E0-7038D89203BF}"/>
              </c:ext>
            </c:extLst>
          </c:dPt>
          <c:dPt>
            <c:idx val="1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C00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4E7C-4AF9-B6E0-7038D89203BF}"/>
              </c:ext>
            </c:extLst>
          </c:dPt>
          <c:dPt>
            <c:idx val="2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C00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4E7C-4AF9-B6E0-7038D89203BF}"/>
              </c:ext>
            </c:extLst>
          </c:dPt>
          <c:dPt>
            <c:idx val="3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C00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4E7C-4AF9-B6E0-7038D89203BF}"/>
              </c:ext>
            </c:extLst>
          </c:dPt>
          <c:dPt>
            <c:idx val="4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FFC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4E7C-4AF9-B6E0-7038D89203BF}"/>
              </c:ext>
            </c:extLst>
          </c:dPt>
          <c:dPt>
            <c:idx val="5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5B9BD5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4E7C-4AF9-B6E0-7038D89203BF}"/>
              </c:ext>
            </c:extLst>
          </c:dPt>
          <c:dPt>
            <c:idx val="6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5B9BD5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6-4E7C-4AF9-B6E0-7038D89203BF}"/>
              </c:ext>
            </c:extLst>
          </c:dPt>
          <c:dPt>
            <c:idx val="7"/>
            <c:marker>
              <c:spPr>
                <a:solidFill>
                  <a:schemeClr val="bg1"/>
                </a:solidFill>
                <a:ln w="50800" cap="flat" cmpd="thinThick" algn="ctr">
                  <a:solidFill>
                    <a:srgbClr val="C00000"/>
                  </a:solidFill>
                  <a:prstDash val="solid"/>
                  <a:round/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7-4E7C-4AF9-B6E0-7038D89203BF}"/>
              </c:ext>
            </c:extLst>
          </c:dPt>
          <c:xVal>
            <c:numRef>
              <c:f>Sheet1!$A$2:$A$9</c:f>
              <c:numCache>
                <c:formatCode>0.0</c:formatCode>
                <c:ptCount val="8"/>
                <c:pt idx="0">
                  <c:v>37.772585669781897</c:v>
                </c:pt>
                <c:pt idx="1">
                  <c:v>8.8095801567132597</c:v>
                </c:pt>
                <c:pt idx="2">
                  <c:v>11.206140350877201</c:v>
                </c:pt>
                <c:pt idx="3">
                  <c:v>10.4826154644525</c:v>
                </c:pt>
                <c:pt idx="4">
                  <c:v>30.742199567500801</c:v>
                </c:pt>
                <c:pt idx="5">
                  <c:v>22.493279569892501</c:v>
                </c:pt>
                <c:pt idx="6">
                  <c:v>22.3359691235997</c:v>
                </c:pt>
                <c:pt idx="7">
                  <c:v>14.4636752136752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19.812616822429899</c:v>
                </c:pt>
                <c:pt idx="1">
                  <c:v>3.5441133931154201</c:v>
                </c:pt>
                <c:pt idx="2">
                  <c:v>2.9460526315789499</c:v>
                </c:pt>
                <c:pt idx="3">
                  <c:v>9.8505448884276099</c:v>
                </c:pt>
                <c:pt idx="4">
                  <c:v>14.223354958294699</c:v>
                </c:pt>
                <c:pt idx="5">
                  <c:v>17.441433566433599</c:v>
                </c:pt>
                <c:pt idx="6">
                  <c:v>6.7634354595680604</c:v>
                </c:pt>
                <c:pt idx="7">
                  <c:v>11.1320512820513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8-4E7C-4AF9-B6E0-7038D89203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4187973"/>
        <c:axId val="484801637"/>
      </c:scatterChart>
      <c:valAx>
        <c:axId val="494187973"/>
        <c:scaling>
          <c:orientation val="minMax"/>
          <c:max val="45"/>
          <c:min val="0"/>
        </c:scaling>
        <c:delete val="0"/>
        <c:axPos val="b"/>
        <c:numFmt formatCode="#,##0.00_);[Red]\(#,##0.00\)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484801637"/>
        <c:crosses val="autoZero"/>
        <c:crossBetween val="midCat"/>
        <c:majorUnit val="15"/>
      </c:valAx>
      <c:valAx>
        <c:axId val="484801637"/>
        <c:scaling>
          <c:orientation val="minMax"/>
        </c:scaling>
        <c:delete val="0"/>
        <c:axPos val="l"/>
        <c:numFmt formatCode="#,##0.00_);[Red]\(#,##0.00\)" sourceLinked="0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800" b="0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endParaRPr lang="zh-CN"/>
          </a:p>
        </c:txPr>
        <c:crossAx val="494187973"/>
        <c:crosses val="autoZero"/>
        <c:crossBetween val="midCat"/>
        <c:majorUnit val="9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7642ec3-7c9d-427f-bafe-bbccb15db84c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>
        <c:manualLayout>
          <c:layoutTarget val="inner"/>
          <c:xMode val="edge"/>
          <c:yMode val="edge"/>
          <c:x val="4.3509449579252298E-2"/>
          <c:y val="0.30541050790137902"/>
          <c:w val="0.95235204855842204"/>
          <c:h val="0.55826831323506998"/>
        </c:manualLayout>
      </c:layout>
      <c:barChart>
        <c:barDir val="col"/>
        <c:grouping val="stacked"/>
        <c:varyColors val="0"/>
        <c:ser>
          <c:idx val="1"/>
          <c:order val="0"/>
          <c:tx>
            <c:strRef>
              <c:f>Sheet1!$B$1</c:f>
              <c:strCache>
                <c:ptCount val="1"/>
                <c:pt idx="0">
                  <c:v>自营</c:v>
                </c:pt>
              </c:strCache>
            </c:strRef>
          </c:tx>
          <c:spPr>
            <a:solidFill>
              <a:schemeClr val="accent1"/>
            </a:solidFill>
            <a:ln>
              <a:noFill/>
              <a:prstDash val="solid"/>
            </a:ln>
            <a:effectLst/>
          </c:spPr>
          <c:invertIfNegative val="0"/>
          <c:dLbls>
            <c:dLbl>
              <c:idx val="0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8AB9-41AA-8C96-E940DE2D0121}"/>
                </c:ext>
              </c:extLst>
            </c:dLbl>
            <c:dLbl>
              <c:idx val="1"/>
              <c:layout>
                <c:manualLayout>
                  <c:x val="2.3215322112594299E-3"/>
                  <c:y val="-2.9129934840935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B9-41AA-8C96-E940DE2D0121}"/>
                </c:ext>
              </c:extLst>
            </c:dLbl>
            <c:dLbl>
              <c:idx val="2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8AB9-41AA-8C96-E940DE2D0121}"/>
                </c:ext>
              </c:extLst>
            </c:dLbl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B9-41AA-8C96-E940DE2D0121}"/>
                </c:ext>
              </c:extLst>
            </c:dLbl>
            <c:dLbl>
              <c:idx val="4"/>
              <c:layout>
                <c:manualLayout>
                  <c:x val="0"/>
                  <c:y val="-3.52625527021847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AB9-41AA-8C96-E940DE2D0121}"/>
                </c:ext>
              </c:extLst>
            </c:dLbl>
            <c:dLbl>
              <c:idx val="5"/>
              <c:layout>
                <c:manualLayout>
                  <c:x val="-1.93461017604953E-3"/>
                  <c:y val="-6.7075507857416602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AB9-41AA-8C96-E940DE2D0121}"/>
                </c:ext>
              </c:extLst>
            </c:dLbl>
            <c:dLbl>
              <c:idx val="6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AB9-41AA-8C96-E940DE2D0121}"/>
                </c:ext>
              </c:extLst>
            </c:dLbl>
            <c:dLbl>
              <c:idx val="7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AB9-41AA-8C96-E940DE2D0121}"/>
                </c:ext>
              </c:extLst>
            </c:dLbl>
            <c:dLbl>
              <c:idx val="8"/>
              <c:layout>
                <c:manualLayout>
                  <c:x val="-4.8365254401238201E-4"/>
                  <c:y val="-0.20122652357224999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AB9-41AA-8C96-E940DE2D0121}"/>
                </c:ext>
              </c:extLst>
            </c:dLbl>
            <c:dLbl>
              <c:idx val="9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AB9-41AA-8C96-E940DE2D0121}"/>
                </c:ext>
              </c:extLst>
            </c:dLbl>
            <c:dLbl>
              <c:idx val="10"/>
              <c:layout>
                <c:manualLayout>
                  <c:x val="-1.45095763203714E-3"/>
                  <c:y val="-8.43234955921809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8AB9-41AA-8C96-E940DE2D0121}"/>
                </c:ext>
              </c:extLst>
            </c:dLbl>
            <c:dLbl>
              <c:idx val="11"/>
              <c:layout>
                <c:manualLayout>
                  <c:x val="0"/>
                  <c:y val="-4.6952855500191598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AB9-41AA-8C96-E940DE2D0121}"/>
                </c:ext>
              </c:extLst>
            </c:dLbl>
            <c:dLbl>
              <c:idx val="12"/>
              <c:layout>
                <c:manualLayout>
                  <c:x val="-9.6730508802476305E-4"/>
                  <c:y val="-3.92870831736297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8AB9-41AA-8C96-E940DE2D01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Sheet1!$A$3:$A$15</c:f>
              <c:strCache>
                <c:ptCount val="13"/>
                <c:pt idx="0">
                  <c:v>版纳</c:v>
                </c:pt>
                <c:pt idx="1">
                  <c:v>昆明</c:v>
                </c:pt>
                <c:pt idx="2">
                  <c:v>腾冲</c:v>
                </c:pt>
                <c:pt idx="3">
                  <c:v>阜阳</c:v>
                </c:pt>
                <c:pt idx="4">
                  <c:v>长沙</c:v>
                </c:pt>
                <c:pt idx="5">
                  <c:v>滨湖</c:v>
                </c:pt>
                <c:pt idx="6">
                  <c:v>连江</c:v>
                </c:pt>
                <c:pt idx="7">
                  <c:v>北京</c:v>
                </c:pt>
                <c:pt idx="8">
                  <c:v>罗源</c:v>
                </c:pt>
                <c:pt idx="9">
                  <c:v>闽江</c:v>
                </c:pt>
                <c:pt idx="10">
                  <c:v>宁波</c:v>
                </c:pt>
                <c:pt idx="11">
                  <c:v>贵阳</c:v>
                </c:pt>
                <c:pt idx="12">
                  <c:v>北城</c:v>
                </c:pt>
              </c:strCache>
            </c:strRef>
          </c:cat>
          <c:val>
            <c:numRef>
              <c:f>Sheet1!$B$3:$B$15</c:f>
              <c:numCache>
                <c:formatCode>#,##0_ </c:formatCode>
                <c:ptCount val="13"/>
                <c:pt idx="0">
                  <c:v>0</c:v>
                </c:pt>
                <c:pt idx="1">
                  <c:v>3</c:v>
                </c:pt>
                <c:pt idx="2">
                  <c:v>0</c:v>
                </c:pt>
                <c:pt idx="3">
                  <c:v>1.91</c:v>
                </c:pt>
                <c:pt idx="4">
                  <c:v>6.3803850000000004</c:v>
                </c:pt>
                <c:pt idx="5">
                  <c:v>60.29</c:v>
                </c:pt>
                <c:pt idx="6">
                  <c:v>0</c:v>
                </c:pt>
                <c:pt idx="7">
                  <c:v>0</c:v>
                </c:pt>
                <c:pt idx="8">
                  <c:v>182.19</c:v>
                </c:pt>
                <c:pt idx="9">
                  <c:v>0</c:v>
                </c:pt>
                <c:pt idx="10">
                  <c:v>64.569999999999993</c:v>
                </c:pt>
                <c:pt idx="11">
                  <c:v>14.135346</c:v>
                </c:pt>
                <c:pt idx="12">
                  <c:v>16.783000000000001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8AB9-41AA-8C96-E940DE2D0121}"/>
            </c:ext>
          </c:extLst>
        </c:ser>
        <c:ser>
          <c:idx val="2"/>
          <c:order val="1"/>
          <c:tx>
            <c:strRef>
              <c:f>Sheet1!$C$1</c:f>
              <c:strCache>
                <c:ptCount val="1"/>
                <c:pt idx="0">
                  <c:v>联营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 w="12700">
              <a:noFill/>
              <a:prstDash val="dash"/>
            </a:ln>
            <a:effectLst/>
          </c:spPr>
          <c:invertIfNegative val="0"/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E-8AB9-41AA-8C96-E940DE2D0121}"/>
              </c:ext>
            </c:extLst>
          </c:dPt>
          <c:dLbls>
            <c:dLbl>
              <c:idx val="0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8AB9-41AA-8C96-E940DE2D0121}"/>
                </c:ext>
              </c:extLst>
            </c:dLbl>
            <c:dLbl>
              <c:idx val="1"/>
              <c:layout>
                <c:manualLayout>
                  <c:x val="-5.08047267991349E-3"/>
                  <c:y val="-7.4840273082277906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8AB9-41AA-8C96-E940DE2D0121}"/>
                </c:ext>
              </c:extLst>
            </c:dLbl>
            <c:dLbl>
              <c:idx val="2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8AB9-41AA-8C96-E940DE2D0121}"/>
                </c:ext>
              </c:extLst>
            </c:dLbl>
            <c:dLbl>
              <c:idx val="3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8AB9-41AA-8C96-E940DE2D0121}"/>
                </c:ext>
              </c:extLst>
            </c:dLbl>
            <c:dLbl>
              <c:idx val="4"/>
              <c:layout>
                <c:manualLayout>
                  <c:x val="4.3752980318757301E-4"/>
                  <c:y val="-7.7626402855503401E-2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3-8AB9-41AA-8C96-E940DE2D0121}"/>
                </c:ext>
              </c:extLst>
            </c:dLbl>
            <c:dLbl>
              <c:idx val="5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4-8AB9-41AA-8C96-E940DE2D0121}"/>
                </c:ext>
              </c:extLst>
            </c:dLbl>
            <c:dLbl>
              <c:idx val="6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5-8AB9-41AA-8C96-E940DE2D0121}"/>
                </c:ext>
              </c:extLst>
            </c:dLbl>
            <c:dLbl>
              <c:idx val="7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6-8AB9-41AA-8C96-E940DE2D0121}"/>
                </c:ext>
              </c:extLst>
            </c:dLbl>
            <c:dLbl>
              <c:idx val="8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7-8AB9-41AA-8C96-E940DE2D0121}"/>
                </c:ext>
              </c:extLst>
            </c:dLbl>
            <c:dLbl>
              <c:idx val="9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8-8AB9-41AA-8C96-E940DE2D0121}"/>
                </c:ext>
              </c:extLst>
            </c:dLbl>
            <c:dLbl>
              <c:idx val="10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8AB9-41AA-8C96-E940DE2D0121}"/>
                </c:ext>
              </c:extLst>
            </c:dLbl>
            <c:dLbl>
              <c:idx val="11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9-8AB9-41AA-8C96-E940DE2D0121}"/>
                </c:ext>
              </c:extLst>
            </c:dLbl>
            <c:dLbl>
              <c:idx val="12"/>
              <c:layout>
                <c:manualLayout>
                  <c:x val="-2.3215322112594299E-3"/>
                  <c:y val="-5.9793024147182801E-2"/>
                </c:manualLayout>
              </c:layout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A-8AB9-41AA-8C96-E940DE2D012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chemeClr val="tx1"/>
                    </a:solidFill>
                    <a:latin typeface="+mj-ea"/>
                    <a:ea typeface="+mj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Sheet1!$A$3:$A$15</c:f>
              <c:strCache>
                <c:ptCount val="13"/>
                <c:pt idx="0">
                  <c:v>版纳</c:v>
                </c:pt>
                <c:pt idx="1">
                  <c:v>昆明</c:v>
                </c:pt>
                <c:pt idx="2">
                  <c:v>腾冲</c:v>
                </c:pt>
                <c:pt idx="3">
                  <c:v>阜阳</c:v>
                </c:pt>
                <c:pt idx="4">
                  <c:v>长沙</c:v>
                </c:pt>
                <c:pt idx="5">
                  <c:v>滨湖</c:v>
                </c:pt>
                <c:pt idx="6">
                  <c:v>连江</c:v>
                </c:pt>
                <c:pt idx="7">
                  <c:v>北京</c:v>
                </c:pt>
                <c:pt idx="8">
                  <c:v>罗源</c:v>
                </c:pt>
                <c:pt idx="9">
                  <c:v>闽江</c:v>
                </c:pt>
                <c:pt idx="10">
                  <c:v>宁波</c:v>
                </c:pt>
                <c:pt idx="11">
                  <c:v>贵阳</c:v>
                </c:pt>
                <c:pt idx="12">
                  <c:v>北城</c:v>
                </c:pt>
              </c:strCache>
            </c:strRef>
          </c:cat>
          <c:val>
            <c:numRef>
              <c:f>Sheet1!$C$3:$C$15</c:f>
              <c:numCache>
                <c:formatCode>#,##0_ </c:formatCode>
                <c:ptCount val="13"/>
                <c:pt idx="0">
                  <c:v>29.79</c:v>
                </c:pt>
                <c:pt idx="1">
                  <c:v>91.01</c:v>
                </c:pt>
                <c:pt idx="2">
                  <c:v>5.96</c:v>
                </c:pt>
                <c:pt idx="3">
                  <c:v>19.260000000000002</c:v>
                </c:pt>
                <c:pt idx="4">
                  <c:v>52.079614999999997</c:v>
                </c:pt>
                <c:pt idx="5">
                  <c:v>153.66</c:v>
                </c:pt>
                <c:pt idx="6">
                  <c:v>218.29</c:v>
                </c:pt>
                <c:pt idx="7">
                  <c:v>2.5</c:v>
                </c:pt>
                <c:pt idx="8">
                  <c:v>141.51</c:v>
                </c:pt>
                <c:pt idx="9">
                  <c:v>136.97</c:v>
                </c:pt>
                <c:pt idx="10">
                  <c:v>76.39</c:v>
                </c:pt>
                <c:pt idx="11">
                  <c:v>99.501166999999995</c:v>
                </c:pt>
                <c:pt idx="12">
                  <c:v>90.137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8AB9-41AA-8C96-E940DE2D012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9"/>
        <c:overlap val="100"/>
        <c:axId val="756487333"/>
        <c:axId val="331210736"/>
      </c:barChart>
      <c:catAx>
        <c:axId val="75648733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700" b="0" i="0" u="none" strike="noStrike" kern="1200" cap="all" spc="120" normalizeH="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331210736"/>
        <c:crosses val="autoZero"/>
        <c:auto val="1"/>
        <c:lblAlgn val="ctr"/>
        <c:lblOffset val="100"/>
        <c:noMultiLvlLbl val="0"/>
      </c:catAx>
      <c:valAx>
        <c:axId val="331210736"/>
        <c:scaling>
          <c:orientation val="minMax"/>
        </c:scaling>
        <c:delete val="0"/>
        <c:axPos val="l"/>
        <c:numFmt formatCode="0%" sourceLinked="0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00" b="0" i="0" u="none" strike="noStrike" kern="1200" baseline="0">
                <a:solidFill>
                  <a:schemeClr val="bg1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  <c:crossAx val="75648733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</c:legendEntry>
      <c:legendEntry>
        <c:idx val="1"/>
        <c:txPr>
          <a:bodyPr rot="0" spcFirstLastPara="1" vertOverflow="ellipsis" vert="horz" wrap="square" anchor="ctr" anchorCtr="1"/>
          <a:lstStyle/>
          <a:p>
            <a:pPr>
              <a:defRPr lang="zh-CN" sz="700" b="0" i="0" u="none" strike="noStrike" kern="1200" baseline="0">
                <a:solidFill>
                  <a:schemeClr val="tx1"/>
                </a:solidFill>
                <a:latin typeface="+mj-ea"/>
                <a:ea typeface="+mj-ea"/>
                <a:cs typeface="+mn-cs"/>
              </a:defRPr>
            </a:pPr>
            <a:endParaRPr lang="zh-CN"/>
          </a:p>
        </c:txPr>
      </c:legendEntry>
      <c:layout>
        <c:manualLayout>
          <c:xMode val="edge"/>
          <c:yMode val="edge"/>
          <c:x val="0.71587695731790901"/>
          <c:y val="7.4205580517975295E-2"/>
          <c:w val="0.22044308085610601"/>
          <c:h val="0.105059479785975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700" b="0" i="0" u="none" strike="noStrike" kern="1200" baseline="0">
              <a:solidFill>
                <a:schemeClr val="tx1"/>
              </a:solidFill>
              <a:latin typeface="+mj-ea"/>
              <a:ea typeface="+mj-ea"/>
              <a:cs typeface="+mn-cs"/>
            </a:defRPr>
          </a:pPr>
          <a:endParaRPr lang="zh-CN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f09da30-27f0-4f19-8720-75f6993c1c30}"/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 lang="zh-CN" sz="700">
          <a:solidFill>
            <a:schemeClr val="tx1"/>
          </a:solidFill>
          <a:latin typeface="+mj-ea"/>
          <a:ea typeface="+mj-ea"/>
        </a:defRPr>
      </a:pPr>
      <a:endParaRPr lang="zh-CN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080" b="0" i="0" u="none" strike="noStrike" kern="1200" spc="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defRPr>
            </a:pPr>
            <a:r>
              <a:rPr lang="zh-CN" altLang="en-US" sz="1080" b="1" dirty="0"/>
              <a:t>满意度 </a:t>
            </a:r>
            <a:r>
              <a:rPr lang="en-US" altLang="zh-CN" sz="1080" b="1" dirty="0"/>
              <a:t>- </a:t>
            </a:r>
            <a:r>
              <a:rPr lang="zh-CN" altLang="en-US" sz="1080" b="1" dirty="0"/>
              <a:t>及时响应率 分析</a:t>
            </a:r>
          </a:p>
        </c:rich>
      </c:tx>
      <c:layout>
        <c:manualLayout>
          <c:xMode val="edge"/>
          <c:yMode val="edge"/>
          <c:x val="4.7672462142456497E-2"/>
          <c:y val="1.8562267971650399E-2"/>
        </c:manualLayout>
      </c:layout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zh-CN" sz="1080" b="0" i="0" u="none" strike="noStrike" kern="1200" spc="0" baseline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defRPr>
          </a:pPr>
          <a:endParaRPr lang="zh-CN" alt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18003365114975"/>
          <c:y val="0.155838677016537"/>
          <c:w val="0.82647223780145795"/>
          <c:h val="0.68779952750590601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 值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50800" cmpd="thinThick">
                <a:solidFill>
                  <a:schemeClr val="accent1"/>
                </a:solidFill>
              </a:ln>
              <a:effectLst/>
            </c:spPr>
          </c:marker>
          <c:dPt>
            <c:idx val="0"/>
            <c:marker>
              <c:symbol val="circle"/>
              <c:size val="10"/>
              <c:spPr>
                <a:solidFill>
                  <a:schemeClr val="bg1"/>
                </a:solidFill>
                <a:ln w="50800" cmpd="thinThick">
                  <a:solidFill>
                    <a:srgbClr val="005D97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AE79-454A-8C43-E95CF6260155}"/>
              </c:ext>
            </c:extLst>
          </c:dPt>
          <c:dPt>
            <c:idx val="1"/>
            <c:marker>
              <c:symbol val="circle"/>
              <c:size val="10"/>
              <c:spPr>
                <a:solidFill>
                  <a:schemeClr val="bg1"/>
                </a:solidFill>
                <a:ln w="50800" cmpd="thinThick">
                  <a:solidFill>
                    <a:srgbClr val="005D97"/>
                  </a:solidFill>
                </a:ln>
                <a:effectLst/>
              </c:spPr>
            </c:marker>
            <c:bubble3D val="0"/>
            <c:spPr>
              <a:ln w="19050" cap="rnd">
                <a:noFill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2-AE79-454A-8C43-E95CF6260155}"/>
              </c:ext>
            </c:extLst>
          </c:dPt>
          <c:dPt>
            <c:idx val="5"/>
            <c:marker>
              <c:symbol val="circle"/>
              <c:size val="10"/>
              <c:spPr>
                <a:solidFill>
                  <a:schemeClr val="bg1"/>
                </a:solidFill>
                <a:ln w="50800" cmpd="thinThick">
                  <a:solidFill>
                    <a:srgbClr val="C00000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AE79-454A-8C43-E95CF6260155}"/>
              </c:ext>
            </c:extLst>
          </c:dPt>
          <c:dPt>
            <c:idx val="6"/>
            <c:marker>
              <c:symbol val="circle"/>
              <c:size val="10"/>
              <c:spPr>
                <a:solidFill>
                  <a:schemeClr val="bg1"/>
                </a:solidFill>
                <a:ln w="50800" cmpd="thinThick">
                  <a:solidFill>
                    <a:srgbClr val="C03532"/>
                  </a:solidFill>
                </a:ln>
                <a:effectLst/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AE79-454A-8C43-E95CF6260155}"/>
              </c:ext>
            </c:extLst>
          </c:dPt>
          <c:xVal>
            <c:numRef>
              <c:f>Sheet1!$A$2:$A$8</c:f>
              <c:numCache>
                <c:formatCode>0.00%</c:formatCode>
                <c:ptCount val="7"/>
                <c:pt idx="0">
                  <c:v>0.93030000000000002</c:v>
                </c:pt>
                <c:pt idx="1">
                  <c:v>0.87570000000000003</c:v>
                </c:pt>
                <c:pt idx="2">
                  <c:v>0.86360000000000003</c:v>
                </c:pt>
                <c:pt idx="3">
                  <c:v>0.85189999999999999</c:v>
                </c:pt>
                <c:pt idx="4">
                  <c:v>0.97650000000000003</c:v>
                </c:pt>
                <c:pt idx="5">
                  <c:v>0.76529999999999998</c:v>
                </c:pt>
                <c:pt idx="6">
                  <c:v>0.76819999999999999</c:v>
                </c:pt>
              </c:numCache>
            </c:numRef>
          </c:xVal>
          <c:yVal>
            <c:numRef>
              <c:f>Sheet1!$B$2:$B$8</c:f>
              <c:numCache>
                <c:formatCode>0.00%</c:formatCode>
                <c:ptCount val="7"/>
                <c:pt idx="0">
                  <c:v>0.98129999999999995</c:v>
                </c:pt>
                <c:pt idx="1">
                  <c:v>0.9819</c:v>
                </c:pt>
                <c:pt idx="2">
                  <c:v>0.98499999999999999</c:v>
                </c:pt>
                <c:pt idx="3">
                  <c:v>0.98019999999999996</c:v>
                </c:pt>
                <c:pt idx="4">
                  <c:v>0.95989999999999998</c:v>
                </c:pt>
                <c:pt idx="5">
                  <c:v>0.96499999999999997</c:v>
                </c:pt>
                <c:pt idx="6">
                  <c:v>0.96440000000000003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5-AE79-454A-8C43-E95CF626015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50800" cmpd="thinThick">
                <a:solidFill>
                  <a:schemeClr val="accent2"/>
                </a:solidFill>
              </a:ln>
              <a:effectLst/>
            </c:spPr>
          </c:marker>
          <c:xVal>
            <c:numRef>
              <c:f>Sheet1!$A$2:$A$8</c:f>
              <c:numCache>
                <c:formatCode>0.00%</c:formatCode>
                <c:ptCount val="7"/>
                <c:pt idx="0">
                  <c:v>0.93030000000000002</c:v>
                </c:pt>
                <c:pt idx="1">
                  <c:v>0.87570000000000003</c:v>
                </c:pt>
                <c:pt idx="2">
                  <c:v>0.86360000000000003</c:v>
                </c:pt>
                <c:pt idx="3">
                  <c:v>0.85189999999999999</c:v>
                </c:pt>
                <c:pt idx="4">
                  <c:v>0.97650000000000003</c:v>
                </c:pt>
                <c:pt idx="5">
                  <c:v>0.76529999999999998</c:v>
                </c:pt>
                <c:pt idx="6">
                  <c:v>0.76819999999999999</c:v>
                </c:pt>
              </c:numCache>
            </c:numRef>
          </c:xVal>
          <c:y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6-AE79-454A-8C43-E95CF62601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94187973"/>
        <c:axId val="484801637"/>
      </c:scatterChart>
      <c:valAx>
        <c:axId val="494187973"/>
        <c:scaling>
          <c:orientation val="minMax"/>
          <c:max val="0.98"/>
          <c:min val="0.75"/>
        </c:scaling>
        <c:delete val="1"/>
        <c:axPos val="b"/>
        <c:numFmt formatCode="0%" sourceLinked="0"/>
        <c:majorTickMark val="none"/>
        <c:minorTickMark val="none"/>
        <c:tickLblPos val="nextTo"/>
        <c:crossAx val="484801637"/>
        <c:crosses val="autoZero"/>
        <c:crossBetween val="midCat"/>
        <c:majorUnit val="0.1"/>
        <c:minorUnit val="0.05"/>
      </c:valAx>
      <c:valAx>
        <c:axId val="484801637"/>
        <c:scaling>
          <c:orientation val="minMax"/>
          <c:max val="1"/>
          <c:min val="0.95"/>
        </c:scaling>
        <c:delete val="1"/>
        <c:axPos val="l"/>
        <c:numFmt formatCode="0%" sourceLinked="0"/>
        <c:majorTickMark val="none"/>
        <c:minorTickMark val="none"/>
        <c:tickLblPos val="nextTo"/>
        <c:crossAx val="494187973"/>
        <c:crosses val="autoZero"/>
        <c:crossBetween val="midCat"/>
        <c:majorUnit val="0.01"/>
        <c:minorUnit val="5.0000000000000001E-3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7642ec3-7c9d-427f-bafe-bbccb15db84c}"/>
      </c:ext>
    </c:extLst>
  </c:chart>
  <c:spPr>
    <a:noFill/>
    <a:ln w="6350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>
          <a:solidFill>
            <a:schemeClr val="tx1">
              <a:lumMod val="75000"/>
              <a:lumOff val="2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微软雅黑" panose="020B0503020204020204" pitchFamily="34" charset="-122"/>
          <a:sym typeface="微软雅黑" panose="020B0503020204020204" pitchFamily="34" charset="-122"/>
        </a:defRPr>
      </a:pPr>
      <a:endParaRPr lang="zh-CN"/>
    </a:p>
  </c:txPr>
  <c:externalData r:id="rId4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r>
              <a:rPr lang="zh-CN" altLang="en-US" sz="1400" b="1" dirty="0"/>
              <a:t>入户维修满意度</a:t>
            </a:r>
            <a:endParaRPr lang="zh-CN" sz="1400" b="1" dirty="0"/>
          </a:p>
        </c:rich>
      </c:tx>
      <c:layout>
        <c:manualLayout>
          <c:xMode val="edge"/>
          <c:yMode val="edge"/>
          <c:x val="5.0626990547552403E-2"/>
          <c:y val="1.164758887754339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8.4041135021900595E-2"/>
          <c:y val="0.158569500674764"/>
          <c:w val="0.71956770139021098"/>
          <c:h val="0.7694669365722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  <a:effectLst/>
            <a:sp3d/>
          </c:spPr>
          <c:invertIfNegative val="0"/>
          <c:dPt>
            <c:idx val="2"/>
            <c:invertIfNegative val="0"/>
            <c:bubble3D val="0"/>
            <c:spPr>
              <a:solidFill>
                <a:srgbClr val="BDD7EE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682D-4C8C-8B62-A2002DE3A36D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682D-4C8C-8B62-A2002DE3A36D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5-682D-4C8C-8B62-A2002DE3A36D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7-682D-4C8C-8B62-A2002DE3A36D}"/>
              </c:ext>
            </c:extLst>
          </c:dPt>
          <c:cat>
            <c:strRef>
              <c:f>Sheet1!$A$2:$A$15</c:f>
              <c:strCache>
                <c:ptCount val="14"/>
                <c:pt idx="0">
                  <c:v>集团</c:v>
                </c:pt>
                <c:pt idx="1">
                  <c:v>宁波</c:v>
                </c:pt>
                <c:pt idx="2">
                  <c:v>滨湖</c:v>
                </c:pt>
                <c:pt idx="3">
                  <c:v>长沙</c:v>
                </c:pt>
                <c:pt idx="4">
                  <c:v>罗源</c:v>
                </c:pt>
                <c:pt idx="5">
                  <c:v>昆明</c:v>
                </c:pt>
                <c:pt idx="6">
                  <c:v>版纳</c:v>
                </c:pt>
                <c:pt idx="7">
                  <c:v>腾冲</c:v>
                </c:pt>
                <c:pt idx="8">
                  <c:v>北城</c:v>
                </c:pt>
                <c:pt idx="9">
                  <c:v>贵阳</c:v>
                </c:pt>
                <c:pt idx="10">
                  <c:v>连江</c:v>
                </c:pt>
                <c:pt idx="11">
                  <c:v>北京</c:v>
                </c:pt>
                <c:pt idx="12">
                  <c:v>阜阳</c:v>
                </c:pt>
                <c:pt idx="13">
                  <c:v>闽江</c:v>
                </c:pt>
              </c:strCache>
            </c:strRef>
          </c:cat>
          <c:val>
            <c:numRef>
              <c:f>Sheet1!$C$2:$C$15</c:f>
              <c:numCache>
                <c:formatCode>0.00%</c:formatCode>
                <c:ptCount val="14"/>
                <c:pt idx="0">
                  <c:v>0.9748</c:v>
                </c:pt>
                <c:pt idx="1">
                  <c:v>0.95989999999999998</c:v>
                </c:pt>
                <c:pt idx="2">
                  <c:v>0.96440000000000003</c:v>
                </c:pt>
                <c:pt idx="3">
                  <c:v>0.96499999999999997</c:v>
                </c:pt>
                <c:pt idx="4">
                  <c:v>0.9728</c:v>
                </c:pt>
                <c:pt idx="5">
                  <c:v>0.97289999999999999</c:v>
                </c:pt>
                <c:pt idx="6">
                  <c:v>0.97689999999999999</c:v>
                </c:pt>
                <c:pt idx="7">
                  <c:v>0.97840000000000005</c:v>
                </c:pt>
                <c:pt idx="8">
                  <c:v>0.98019999999999996</c:v>
                </c:pt>
                <c:pt idx="9">
                  <c:v>0.98129999999999995</c:v>
                </c:pt>
                <c:pt idx="10">
                  <c:v>0.98170000000000002</c:v>
                </c:pt>
                <c:pt idx="11">
                  <c:v>0.9819</c:v>
                </c:pt>
                <c:pt idx="12">
                  <c:v>0.98499999999999999</c:v>
                </c:pt>
                <c:pt idx="13">
                  <c:v>0.98970000000000002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2D-4C8C-8B62-A2002DE3A3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2"/>
        <c:axId val="896025688"/>
        <c:axId val="896026016"/>
      </c:barChart>
      <c:dateAx>
        <c:axId val="8960256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low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 forceAA="0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896026016"/>
        <c:crosses val="autoZero"/>
        <c:auto val="0"/>
        <c:lblOffset val="0"/>
        <c:baseTimeUnit val="days"/>
      </c:dateAx>
      <c:valAx>
        <c:axId val="896026016"/>
        <c:scaling>
          <c:orientation val="minMax"/>
          <c:min val="0.9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bg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900" b="1" i="0" u="none" strike="noStrike" kern="1200" baseline="0">
                <a:solidFill>
                  <a:schemeClr val="bg1"/>
                </a:solidFill>
                <a:latin typeface="+mn-ea"/>
                <a:ea typeface="+mn-ea"/>
                <a:cs typeface="+mn-cs"/>
              </a:defRPr>
            </a:pPr>
            <a:endParaRPr lang="zh-CN"/>
          </a:p>
        </c:txPr>
        <c:crossAx val="896025688"/>
        <c:crossesAt val="1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fba46af5-9bcc-49c2-af2f-e575e33e7323}"/>
      </c:ext>
    </c:extLst>
  </c:chart>
  <c:spPr>
    <a:noFill/>
    <a:ln w="9525" cap="flat" cmpd="sng" algn="ctr">
      <a:noFill/>
      <a:round/>
    </a:ln>
    <a:effectLst>
      <a:outerShdw blurRad="63500" dist="37357" dir="2700000" sx="0" sy="0" rotWithShape="0">
        <a:scrgbClr r="0" g="0" b="0"/>
      </a:outerShdw>
    </a:effectLst>
  </c:spPr>
  <c:txPr>
    <a:bodyPr/>
    <a:lstStyle/>
    <a:p>
      <a:pPr>
        <a:defRPr lang="zh-CN" sz="900" b="1">
          <a:latin typeface="+mn-ea"/>
          <a:ea typeface="+mn-ea"/>
        </a:defRPr>
      </a:pPr>
      <a:endParaRPr lang="zh-CN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4.7428769979152199E-2"/>
          <c:y val="3.4542044388871498E-2"/>
          <c:w val="0.78683113273106298"/>
          <c:h val="0.930759612378867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BDD7EE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BEEF-478E-8CF7-AB7C5E7F4E77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EEF-478E-8CF7-AB7C5E7F4E77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BEEF-478E-8CF7-AB7C5E7F4E77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BEEF-478E-8CF7-AB7C5E7F4E77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BEEF-478E-8CF7-AB7C5E7F4E77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BEEF-478E-8CF7-AB7C5E7F4E77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BEEF-478E-8CF7-AB7C5E7F4E77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BEEF-478E-8CF7-AB7C5E7F4E77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BEEF-478E-8CF7-AB7C5E7F4E77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BEEF-478E-8CF7-AB7C5E7F4E77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BEEF-478E-8CF7-AB7C5E7F4E77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BEEF-478E-8CF7-AB7C5E7F4E77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BEEF-478E-8CF7-AB7C5E7F4E77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BEEF-478E-8CF7-AB7C5E7F4E77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2D2D2D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版纳</c:v>
                </c:pt>
                <c:pt idx="1">
                  <c:v>连江</c:v>
                </c:pt>
                <c:pt idx="2">
                  <c:v>阜阳</c:v>
                </c:pt>
                <c:pt idx="3">
                  <c:v>北京</c:v>
                </c:pt>
                <c:pt idx="4">
                  <c:v>腾冲</c:v>
                </c:pt>
                <c:pt idx="5">
                  <c:v>昆明</c:v>
                </c:pt>
                <c:pt idx="6">
                  <c:v>宁波</c:v>
                </c:pt>
                <c:pt idx="7">
                  <c:v>滨湖</c:v>
                </c:pt>
                <c:pt idx="8">
                  <c:v>长沙</c:v>
                </c:pt>
                <c:pt idx="9">
                  <c:v>罗源</c:v>
                </c:pt>
                <c:pt idx="10">
                  <c:v>贵阳</c:v>
                </c:pt>
                <c:pt idx="11">
                  <c:v>北城</c:v>
                </c:pt>
                <c:pt idx="12">
                  <c:v>闽江</c:v>
                </c:pt>
                <c:pt idx="13">
                  <c:v>合计</c:v>
                </c:pt>
              </c:strCache>
            </c:strRef>
          </c:cat>
          <c:val>
            <c:numRef>
              <c:f>Sheet1!$B$2:$B$15</c:f>
              <c:numCache>
                <c:formatCode>0.00%</c:formatCode>
                <c:ptCount val="14"/>
                <c:pt idx="0">
                  <c:v>0.61680000000000001</c:v>
                </c:pt>
                <c:pt idx="1">
                  <c:v>0.68610000000000004</c:v>
                </c:pt>
                <c:pt idx="2">
                  <c:v>0.61819999999999997</c:v>
                </c:pt>
                <c:pt idx="3">
                  <c:v>0.77249999999999996</c:v>
                </c:pt>
                <c:pt idx="4">
                  <c:v>0.78810000000000002</c:v>
                </c:pt>
                <c:pt idx="5">
                  <c:v>0.77890000000000004</c:v>
                </c:pt>
                <c:pt idx="6">
                  <c:v>0.65059999999999996</c:v>
                </c:pt>
                <c:pt idx="7">
                  <c:v>0.69969999999999999</c:v>
                </c:pt>
                <c:pt idx="8">
                  <c:v>0.76849999999999996</c:v>
                </c:pt>
                <c:pt idx="9">
                  <c:v>0.54559999999999997</c:v>
                </c:pt>
                <c:pt idx="10">
                  <c:v>0.82789999999999997</c:v>
                </c:pt>
                <c:pt idx="11">
                  <c:v>0.62739999999999996</c:v>
                </c:pt>
                <c:pt idx="12">
                  <c:v>0.66539999999999999</c:v>
                </c:pt>
                <c:pt idx="13">
                  <c:v>0.70089999999999997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BEEF-478E-8CF7-AB7C5E7F4E7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153b84-5d09-4e3d-9247-8ada313a1e2d}"/>
      </c:ext>
    </c:extLst>
  </c:chart>
  <c:txPr>
    <a:bodyPr/>
    <a:lstStyle/>
    <a:p>
      <a:pPr>
        <a:defRPr lang="zh-CN" sz="700"/>
      </a:pPr>
      <a:endParaRPr lang="zh-CN"/>
    </a:p>
  </c:tx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3472454090150194E-3"/>
          <c:y val="3.4542044388871498E-2"/>
          <c:w val="0.98449797281182905"/>
          <c:h val="0.93075961237886795"/>
        </c:manualLayout>
      </c:layout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投诉率</c:v>
                </c:pt>
              </c:strCache>
            </c:strRef>
          </c:tx>
          <c:spPr>
            <a:solidFill>
              <a:srgbClr val="BDD7EE"/>
            </a:solidFill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3778-4211-BB6F-E78071A8168A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78-4211-BB6F-E78071A8168A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3778-4211-BB6F-E78071A8168A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778-4211-BB6F-E78071A8168A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4-3778-4211-BB6F-E78071A8168A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3778-4211-BB6F-E78071A8168A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6-3778-4211-BB6F-E78071A8168A}"/>
              </c:ext>
            </c:extLst>
          </c:dPt>
          <c:dPt>
            <c:idx val="7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3778-4211-BB6F-E78071A8168A}"/>
              </c:ext>
            </c:extLst>
          </c:dPt>
          <c:dPt>
            <c:idx val="8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8-3778-4211-BB6F-E78071A8168A}"/>
              </c:ext>
            </c:extLst>
          </c:dPt>
          <c:dPt>
            <c:idx val="9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778-4211-BB6F-E78071A8168A}"/>
              </c:ext>
            </c:extLst>
          </c:dPt>
          <c:dPt>
            <c:idx val="1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A-3778-4211-BB6F-E78071A8168A}"/>
              </c:ext>
            </c:extLst>
          </c:dPt>
          <c:dPt>
            <c:idx val="1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3778-4211-BB6F-E78071A8168A}"/>
              </c:ext>
            </c:extLst>
          </c:dPt>
          <c:dPt>
            <c:idx val="1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C-3778-4211-BB6F-E78071A8168A}"/>
              </c:ext>
            </c:extLst>
          </c:dPt>
          <c:dPt>
            <c:idx val="1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3778-4211-BB6F-E78071A8168A}"/>
              </c:ext>
            </c:extLst>
          </c:dPt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00" b="0" i="0" u="none" strike="noStrike" kern="1200" baseline="0">
                    <a:solidFill>
                      <a:srgbClr val="2D2D2D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cat>
            <c:strRef>
              <c:f>Sheet1!$A$2:$A$15</c:f>
              <c:strCache>
                <c:ptCount val="14"/>
                <c:pt idx="0">
                  <c:v>版纳</c:v>
                </c:pt>
                <c:pt idx="1">
                  <c:v>连江</c:v>
                </c:pt>
                <c:pt idx="2">
                  <c:v>阜阳</c:v>
                </c:pt>
                <c:pt idx="3">
                  <c:v>北京</c:v>
                </c:pt>
                <c:pt idx="4">
                  <c:v>腾冲</c:v>
                </c:pt>
                <c:pt idx="5">
                  <c:v>昆明</c:v>
                </c:pt>
                <c:pt idx="6">
                  <c:v>宁波</c:v>
                </c:pt>
                <c:pt idx="7">
                  <c:v>滨湖</c:v>
                </c:pt>
                <c:pt idx="8">
                  <c:v>长沙</c:v>
                </c:pt>
                <c:pt idx="9">
                  <c:v>罗源</c:v>
                </c:pt>
                <c:pt idx="10">
                  <c:v>贵阳</c:v>
                </c:pt>
                <c:pt idx="11">
                  <c:v>北城</c:v>
                </c:pt>
                <c:pt idx="12">
                  <c:v>闽江</c:v>
                </c:pt>
                <c:pt idx="13">
                  <c:v>合计</c:v>
                </c:pt>
              </c:strCache>
            </c:strRef>
          </c:cat>
          <c:val>
            <c:numRef>
              <c:f>Sheet1!$B$2:$B$15</c:f>
              <c:numCache>
                <c:formatCode>0.00%</c:formatCode>
                <c:ptCount val="14"/>
                <c:pt idx="0">
                  <c:v>0.43959999999999999</c:v>
                </c:pt>
                <c:pt idx="1">
                  <c:v>0.25650000000000001</c:v>
                </c:pt>
                <c:pt idx="2">
                  <c:v>0.20949999999999999</c:v>
                </c:pt>
                <c:pt idx="3">
                  <c:v>0.16239999999999999</c:v>
                </c:pt>
                <c:pt idx="4">
                  <c:v>0.16109999999999999</c:v>
                </c:pt>
                <c:pt idx="5">
                  <c:v>0.15140000000000001</c:v>
                </c:pt>
                <c:pt idx="6">
                  <c:v>0.14699999999999999</c:v>
                </c:pt>
                <c:pt idx="7">
                  <c:v>0.14119999999999999</c:v>
                </c:pt>
                <c:pt idx="8">
                  <c:v>9.74E-2</c:v>
                </c:pt>
                <c:pt idx="9">
                  <c:v>7.3599999999999999E-2</c:v>
                </c:pt>
                <c:pt idx="10">
                  <c:v>6.8199999999999997E-2</c:v>
                </c:pt>
                <c:pt idx="11">
                  <c:v>6.6100000000000006E-2</c:v>
                </c:pt>
                <c:pt idx="12">
                  <c:v>5.8099999999999999E-2</c:v>
                </c:pt>
                <c:pt idx="13" formatCode="General">
                  <c:v>0.113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3778-4211-BB6F-E78071A8168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axMin"/>
        </c:scaling>
        <c:delete val="1"/>
        <c:axPos val="l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t"/>
        <c:numFmt formatCode="0.00%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91153b84-5d09-4e3d-9247-8ada313a1e2d}"/>
      </c:ext>
    </c:extLst>
  </c:chart>
  <c:txPr>
    <a:bodyPr/>
    <a:lstStyle/>
    <a:p>
      <a:pPr>
        <a:defRPr lang="zh-CN" sz="700"/>
      </a:pPr>
      <a:endParaRPr lang="zh-CN"/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9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5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65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lt1"/>
    </cs:fontRef>
    <cs:defRPr sz="1195" b="0" i="0" u="none" strike="noStrike" kern="1200" baseline="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3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06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5" kern="1200"/>
  </cs:valueAxis>
  <cs:wall>
    <cs:lnRef idx="0"/>
    <cs:fillRef idx="0"/>
    <cs:effectRef idx="0"/>
    <cs:fontRef idx="minor">
      <a:schemeClr val="dk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1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1048762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8763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endParaRPr lang="zh-CN" altLang="en-US"/>
          </a:p>
        </p:txBody>
      </p:sp>
      <p:sp>
        <p:nvSpPr>
          <p:cNvPr id="1048755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fld id="{D8213024-2BCD-4B6D-8B01-84CAD597EC48}" type="datetimeFigureOut">
              <a:rPr lang="zh-CN" altLang="en-US"/>
              <a:t>2026/6/26</a:t>
            </a:fld>
            <a:endParaRPr lang="zh-CN" altLang="en-US"/>
          </a:p>
        </p:txBody>
      </p:sp>
      <p:sp>
        <p:nvSpPr>
          <p:cNvPr id="1048756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1048757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二级</a:t>
            </a:r>
          </a:p>
          <a:p>
            <a:pPr lvl="2"/>
            <a:r>
              <a:rPr lang="zh-CN" altLang="en-US" noProof="0"/>
              <a:t>三级</a:t>
            </a:r>
          </a:p>
          <a:p>
            <a:pPr lvl="3"/>
            <a:r>
              <a:rPr lang="zh-CN" altLang="en-US" noProof="0"/>
              <a:t>四级</a:t>
            </a:r>
          </a:p>
          <a:p>
            <a:pPr lvl="4"/>
            <a:r>
              <a:rPr lang="zh-CN" altLang="en-US" noProof="0"/>
              <a:t>五级</a:t>
            </a:r>
          </a:p>
        </p:txBody>
      </p:sp>
      <p:sp>
        <p:nvSpPr>
          <p:cNvPr id="1048758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endParaRPr lang="zh-CN" altLang="en-US"/>
          </a:p>
        </p:txBody>
      </p:sp>
      <p:sp>
        <p:nvSpPr>
          <p:cNvPr id="1048759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fld id="{E5F98758-286E-4826-B11E-76BF70D9D844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贵阳城厢天府（文旅）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1-9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万元保安、保洁服务费未收回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宁波筑科案场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万元未收回（预计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月底）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长沙单业权项目物业费逾期，岳阳核电办公楼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万，暂无回款预期；家禽批发市场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万，预计年底可回款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滨湖盛大社区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万物业费未收回（回迁房，单业权）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贵阳城厢天府（文旅）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1-9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万元保安、保洁服务费未收回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宁波筑科案场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万元未收回（预计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月底）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长沙单业权项目物业费逾期，岳阳核电办公楼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万，暂无回款预期；家禽批发市场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万，预计年底可回款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滨湖盛大社区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万物业费未收回（回迁房，单业权）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贵阳城厢天府（文旅）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1-9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万元保安、保洁服务费未收回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宁波筑科案场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万元未收回（预计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月底）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长沙单业权项目物业费逾期，岳阳核电办公楼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万，暂无回款预期；家禽批发市场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万，预计年底可回款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滨湖盛大社区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万物业费未收回（回迁房，单业权）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贵阳城厢天府（文旅）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1-9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万元保安、保洁服务费未收回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宁波筑科案场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万元未收回（预计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月底）</a:t>
            </a:r>
            <a:endParaRPr lang="en-US" altLang="zh-CN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长沙单业权项目物业费逾期，岳阳核电办公楼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万，暂无回款预期；家禽批发市场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94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万，预计年底可回款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AutoNum type="arabicPeriod"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滨湖盛大社区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1-8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180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万物业费未收回（回迁房，单业权）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98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05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0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711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104868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pPr marL="228600" lvl="0" indent="-228600" algn="just" eaLnBrk="1" fontAlgn="auto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3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2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45728" name="直接连接符 1"/>
          <p:cNvCxnSpPr/>
          <p:nvPr userDrawn="1"/>
        </p:nvCxnSpPr>
        <p:spPr>
          <a:xfrm>
            <a:off x="0" y="1204913"/>
            <a:ext cx="12192000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29" name="直接连接符 2"/>
          <p:cNvCxnSpPr/>
          <p:nvPr userDrawn="1"/>
        </p:nvCxnSpPr>
        <p:spPr>
          <a:xfrm>
            <a:off x="0" y="1268413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1" name="五边形 24"/>
          <p:cNvSpPr/>
          <p:nvPr userDrawn="1"/>
        </p:nvSpPr>
        <p:spPr>
          <a:xfrm>
            <a:off x="0" y="239713"/>
            <a:ext cx="533400" cy="787400"/>
          </a:xfrm>
          <a:prstGeom prst="homePlate">
            <a:avLst/>
          </a:prstGeom>
          <a:gradFill flip="none" rotWithShape="1">
            <a:gsLst>
              <a:gs pos="0">
                <a:schemeClr val="accent1"/>
              </a:gs>
              <a:gs pos="100000">
                <a:srgbClr val="0070C0"/>
              </a:gs>
            </a:gsLst>
            <a:lin ang="0" scaled="1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8582" name="日期占位符 3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55EA6E2-68FA-43D9-96F9-6E3280EC50FA}" type="datetimeFigureOut">
              <a:rPr lang="zh-CN" altLang="en-US"/>
              <a:t>2026/6/26</a:t>
            </a:fld>
            <a:endParaRPr lang="zh-CN" altLang="en-US"/>
          </a:p>
        </p:txBody>
      </p:sp>
      <p:sp>
        <p:nvSpPr>
          <p:cNvPr id="1048583" name="页脚占位符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48584" name="灯片编号占位符 5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F7F86062-D15E-4DD4-8C0C-55F1809B758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45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6A632-B082-4345-B4B7-E2DE7FFE1E59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1048746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47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A8861-E6D0-46D6-A2C2-AB3B0CF061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图片 1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6"/>
          <a:srcRect/>
          <a:stretch>
            <a:fillRect/>
          </a:stretch>
        </p:blipFill>
        <p:spPr bwMode="auto">
          <a:xfrm>
            <a:off x="323215" y="180340"/>
            <a:ext cx="11546205" cy="6497320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48" name="矩形 4"/>
          <p:cNvSpPr/>
          <p:nvPr userDrawn="1">
            <p:custDataLst>
              <p:tags r:id="rId2"/>
            </p:custDataLst>
          </p:nvPr>
        </p:nvSpPr>
        <p:spPr>
          <a:xfrm>
            <a:off x="323215" y="180340"/>
            <a:ext cx="11546205" cy="6497320"/>
          </a:xfrm>
          <a:prstGeom prst="rect">
            <a:avLst/>
          </a:prstGeom>
          <a:solidFill>
            <a:schemeClr val="accent1">
              <a:lumMod val="5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3145754" name="直接连接符 7"/>
          <p:cNvCxnSpPr/>
          <p:nvPr userDrawn="1">
            <p:custDataLst>
              <p:tags r:id="rId3"/>
            </p:custDataLst>
          </p:nvPr>
        </p:nvCxnSpPr>
        <p:spPr>
          <a:xfrm>
            <a:off x="295275" y="3383915"/>
            <a:ext cx="3107690" cy="0"/>
          </a:xfrm>
          <a:prstGeom prst="line">
            <a:avLst/>
          </a:prstGeom>
          <a:ln>
            <a:solidFill>
              <a:schemeClr val="bg1">
                <a:alpha val="90000"/>
              </a:schemeClr>
            </a:solidFill>
            <a:tail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5755" name="直接连接符 16"/>
          <p:cNvCxnSpPr/>
          <p:nvPr userDrawn="1">
            <p:custDataLst>
              <p:tags r:id="rId4"/>
            </p:custDataLst>
          </p:nvPr>
        </p:nvCxnSpPr>
        <p:spPr>
          <a:xfrm>
            <a:off x="8828469" y="3383915"/>
            <a:ext cx="3032760" cy="0"/>
          </a:xfrm>
          <a:prstGeom prst="line">
            <a:avLst/>
          </a:prstGeom>
          <a:ln>
            <a:solidFill>
              <a:schemeClr val="bg1">
                <a:alpha val="90000"/>
              </a:schemeClr>
            </a:solidFill>
            <a:headEnd type="oval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97172" name="图片 2" descr="金源服务（白）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618345" y="400685"/>
            <a:ext cx="1958340" cy="4883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1048750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1048751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80A4BC-35B1-438E-9152-446B9BB83C97}" type="datetimeFigureOut">
              <a:rPr lang="zh-CN" altLang="en-US" smtClean="0"/>
              <a:t>2026/6/26</a:t>
            </a:fld>
            <a:endParaRPr lang="zh-CN" altLang="en-US"/>
          </a:p>
        </p:txBody>
      </p:sp>
      <p:sp>
        <p:nvSpPr>
          <p:cNvPr id="104875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75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5B016-64E1-4432-88BD-C1FDDF8765E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 advClick="0">
        <p:fade/>
      </p:transition>
    </mc:Choice>
    <mc:Fallback xmlns="">
      <p:transition spd="med" advClick="0">
        <p:fade/>
      </p:transition>
    </mc:Fallback>
  </mc:AlternateContent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zh-CN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zh-CN"/>
              <a:t>单击此处编辑母版文本样式</a:t>
            </a:r>
          </a:p>
          <a:p>
            <a:pPr lvl="1"/>
            <a:r>
              <a:rPr lang="zh-CN" altLang="zh-CN"/>
              <a:t>第二级</a:t>
            </a:r>
          </a:p>
          <a:p>
            <a:pPr lvl="2"/>
            <a:r>
              <a:rPr lang="zh-CN" altLang="zh-CN"/>
              <a:t>第三级</a:t>
            </a:r>
          </a:p>
          <a:p>
            <a:pPr lvl="3"/>
            <a:r>
              <a:rPr lang="zh-CN" altLang="zh-CN"/>
              <a:t>第四级</a:t>
            </a:r>
          </a:p>
          <a:p>
            <a:pPr lvl="4"/>
            <a:r>
              <a:rPr lang="zh-CN" altLang="zh-CN"/>
              <a:t>第五级</a:t>
            </a:r>
          </a:p>
        </p:txBody>
      </p:sp>
      <p:sp>
        <p:nvSpPr>
          <p:cNvPr id="1048578" name="日期占位符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EA6A632-B082-4345-B4B7-E2DE7FFE1E59}" type="datetimeFigureOut">
              <a:rPr lang="zh-CN" altLang="en-US"/>
              <a:t>2026/6/26</a:t>
            </a:fld>
            <a:endParaRPr lang="zh-CN" altLang="en-US"/>
          </a:p>
        </p:txBody>
      </p:sp>
      <p:sp>
        <p:nvSpPr>
          <p:cNvPr id="1048579" name="页脚占位符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ct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1048580" name="灯片编号占位符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355A8861-E6D0-46D6-A2C2-AB3B0CF061D6}" type="slidenum">
              <a:rPr lang="zh-CN" altLang="en-US"/>
              <a:t>‹#›</a:t>
            </a:fld>
            <a:endParaRPr lang="zh-CN" altLang="en-US"/>
          </a:p>
        </p:txBody>
      </p:sp>
      <p:pic>
        <p:nvPicPr>
          <p:cNvPr id="2097152" name="图片 6" descr="文本&#10;&#10;低可信度描述已自动生成"/>
          <p:cNvPicPr>
            <a:picLocks noChangeAspect="1" noChangeArrowheads="1"/>
          </p:cNvPicPr>
          <p:nvPr userDrawn="1"/>
        </p:nvPicPr>
        <p:blipFill>
          <a:blip r:embed="rId7"/>
          <a:srcRect/>
          <a:stretch>
            <a:fillRect/>
          </a:stretch>
        </p:blipFill>
        <p:spPr bwMode="auto">
          <a:xfrm>
            <a:off x="9739313" y="422275"/>
            <a:ext cx="1958975" cy="48895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</a:defRPr>
      </a:lvl5pPr>
      <a:lvl6pPr marL="25146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3.xml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chart" Target="../charts/chart1.xml"/><Relationship Id="rId5" Type="http://schemas.openxmlformats.org/officeDocument/2006/relationships/tags" Target="../tags/tag10.xml"/><Relationship Id="rId10" Type="http://schemas.openxmlformats.org/officeDocument/2006/relationships/notesSlide" Target="../notesSlides/notesSlide1.xml"/><Relationship Id="rId4" Type="http://schemas.openxmlformats.org/officeDocument/2006/relationships/tags" Target="../tags/tag9.xml"/><Relationship Id="rId9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6" Type="http://schemas.openxmlformats.org/officeDocument/2006/relationships/chart" Target="../charts/chart3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chart" Target="../charts/chart2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3.xml"/><Relationship Id="rId3" Type="http://schemas.openxmlformats.org/officeDocument/2006/relationships/tags" Target="../tags/tag28.xml"/><Relationship Id="rId7" Type="http://schemas.openxmlformats.org/officeDocument/2006/relationships/tags" Target="../tags/tag32.xml"/><Relationship Id="rId12" Type="http://schemas.openxmlformats.org/officeDocument/2006/relationships/chart" Target="../charts/chart4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6" Type="http://schemas.openxmlformats.org/officeDocument/2006/relationships/tags" Target="../tags/tag31.xml"/><Relationship Id="rId11" Type="http://schemas.openxmlformats.org/officeDocument/2006/relationships/notesSlide" Target="../notesSlides/notesSlide3.xml"/><Relationship Id="rId5" Type="http://schemas.openxmlformats.org/officeDocument/2006/relationships/tags" Target="../tags/tag30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29.xml"/><Relationship Id="rId9" Type="http://schemas.openxmlformats.org/officeDocument/2006/relationships/tags" Target="../tags/tag3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2.xml"/><Relationship Id="rId13" Type="http://schemas.openxmlformats.org/officeDocument/2006/relationships/tags" Target="../tags/tag47.xml"/><Relationship Id="rId18" Type="http://schemas.openxmlformats.org/officeDocument/2006/relationships/chart" Target="../charts/chart5.xml"/><Relationship Id="rId3" Type="http://schemas.openxmlformats.org/officeDocument/2006/relationships/tags" Target="../tags/tag37.xml"/><Relationship Id="rId7" Type="http://schemas.openxmlformats.org/officeDocument/2006/relationships/tags" Target="../tags/tag41.xml"/><Relationship Id="rId12" Type="http://schemas.openxmlformats.org/officeDocument/2006/relationships/tags" Target="../tags/tag46.xml"/><Relationship Id="rId17" Type="http://schemas.openxmlformats.org/officeDocument/2006/relationships/notesSlide" Target="../notesSlides/notesSlide4.xml"/><Relationship Id="rId2" Type="http://schemas.openxmlformats.org/officeDocument/2006/relationships/tags" Target="../tags/tag36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35.xml"/><Relationship Id="rId6" Type="http://schemas.openxmlformats.org/officeDocument/2006/relationships/tags" Target="../tags/tag40.xml"/><Relationship Id="rId11" Type="http://schemas.openxmlformats.org/officeDocument/2006/relationships/tags" Target="../tags/tag45.xml"/><Relationship Id="rId5" Type="http://schemas.openxmlformats.org/officeDocument/2006/relationships/tags" Target="../tags/tag39.xml"/><Relationship Id="rId15" Type="http://schemas.openxmlformats.org/officeDocument/2006/relationships/tags" Target="../tags/tag49.xml"/><Relationship Id="rId10" Type="http://schemas.openxmlformats.org/officeDocument/2006/relationships/tags" Target="../tags/tag44.xml"/><Relationship Id="rId19" Type="http://schemas.openxmlformats.org/officeDocument/2006/relationships/chart" Target="../charts/chart6.xml"/><Relationship Id="rId4" Type="http://schemas.openxmlformats.org/officeDocument/2006/relationships/tags" Target="../tags/tag38.xml"/><Relationship Id="rId9" Type="http://schemas.openxmlformats.org/officeDocument/2006/relationships/tags" Target="../tags/tag43.xml"/><Relationship Id="rId14" Type="http://schemas.openxmlformats.org/officeDocument/2006/relationships/tags" Target="../tags/tag4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7" Type="http://schemas.openxmlformats.org/officeDocument/2006/relationships/chart" Target="../charts/chart9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6.png"/><Relationship Id="rId2" Type="http://schemas.openxmlformats.org/officeDocument/2006/relationships/tags" Target="../tags/tag53.xml"/><Relationship Id="rId1" Type="http://schemas.openxmlformats.org/officeDocument/2006/relationships/tags" Target="../tags/tag5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13" Type="http://schemas.openxmlformats.org/officeDocument/2006/relationships/chart" Target="../charts/chart10.xml"/><Relationship Id="rId3" Type="http://schemas.openxmlformats.org/officeDocument/2006/relationships/tags" Target="../tags/tag56.xml"/><Relationship Id="rId7" Type="http://schemas.openxmlformats.org/officeDocument/2006/relationships/tags" Target="../tags/tag60.xml"/><Relationship Id="rId12" Type="http://schemas.openxmlformats.org/officeDocument/2006/relationships/notesSlide" Target="../notesSlides/notesSlide7.xml"/><Relationship Id="rId2" Type="http://schemas.openxmlformats.org/officeDocument/2006/relationships/tags" Target="../tags/tag55.xml"/><Relationship Id="rId1" Type="http://schemas.openxmlformats.org/officeDocument/2006/relationships/tags" Target="../tags/tag54.xml"/><Relationship Id="rId6" Type="http://schemas.openxmlformats.org/officeDocument/2006/relationships/tags" Target="../tags/tag5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8.xml"/><Relationship Id="rId10" Type="http://schemas.openxmlformats.org/officeDocument/2006/relationships/tags" Target="../tags/tag63.xml"/><Relationship Id="rId4" Type="http://schemas.openxmlformats.org/officeDocument/2006/relationships/tags" Target="../tags/tag57.xml"/><Relationship Id="rId9" Type="http://schemas.openxmlformats.org/officeDocument/2006/relationships/tags" Target="../tags/tag62.xml"/><Relationship Id="rId14" Type="http://schemas.openxmlformats.org/officeDocument/2006/relationships/chart" Target="../charts/chart1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18" Type="http://schemas.openxmlformats.org/officeDocument/2006/relationships/tags" Target="../tags/tag81.xml"/><Relationship Id="rId26" Type="http://schemas.openxmlformats.org/officeDocument/2006/relationships/tags" Target="../tags/tag89.xml"/><Relationship Id="rId3" Type="http://schemas.openxmlformats.org/officeDocument/2006/relationships/tags" Target="../tags/tag66.xml"/><Relationship Id="rId21" Type="http://schemas.openxmlformats.org/officeDocument/2006/relationships/tags" Target="../tags/tag84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17" Type="http://schemas.openxmlformats.org/officeDocument/2006/relationships/tags" Target="../tags/tag80.xml"/><Relationship Id="rId25" Type="http://schemas.openxmlformats.org/officeDocument/2006/relationships/tags" Target="../tags/tag88.xml"/><Relationship Id="rId2" Type="http://schemas.openxmlformats.org/officeDocument/2006/relationships/tags" Target="../tags/tag65.xml"/><Relationship Id="rId16" Type="http://schemas.openxmlformats.org/officeDocument/2006/relationships/tags" Target="../tags/tag79.xml"/><Relationship Id="rId20" Type="http://schemas.openxmlformats.org/officeDocument/2006/relationships/tags" Target="../tags/tag83.xml"/><Relationship Id="rId29" Type="http://schemas.openxmlformats.org/officeDocument/2006/relationships/chart" Target="../charts/chart12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24" Type="http://schemas.openxmlformats.org/officeDocument/2006/relationships/tags" Target="../tags/tag87.xml"/><Relationship Id="rId5" Type="http://schemas.openxmlformats.org/officeDocument/2006/relationships/tags" Target="../tags/tag68.xml"/><Relationship Id="rId15" Type="http://schemas.openxmlformats.org/officeDocument/2006/relationships/tags" Target="../tags/tag78.xml"/><Relationship Id="rId23" Type="http://schemas.openxmlformats.org/officeDocument/2006/relationships/tags" Target="../tags/tag86.xml"/><Relationship Id="rId28" Type="http://schemas.openxmlformats.org/officeDocument/2006/relationships/notesSlide" Target="../notesSlides/notesSlide8.xml"/><Relationship Id="rId10" Type="http://schemas.openxmlformats.org/officeDocument/2006/relationships/tags" Target="../tags/tag73.xml"/><Relationship Id="rId19" Type="http://schemas.openxmlformats.org/officeDocument/2006/relationships/tags" Target="../tags/tag82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tags" Target="../tags/tag77.xml"/><Relationship Id="rId22" Type="http://schemas.openxmlformats.org/officeDocument/2006/relationships/tags" Target="../tags/tag85.xml"/><Relationship Id="rId27" Type="http://schemas.openxmlformats.org/officeDocument/2006/relationships/slideLayout" Target="../slideLayouts/slideLayout1.xml"/><Relationship Id="rId30" Type="http://schemas.openxmlformats.org/officeDocument/2006/relationships/chart" Target="../charts/char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notesSlide" Target="../notesSlides/notesSlide9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chart" Target="../charts/chart15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chart" Target="../charts/char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720090" y="1558290"/>
          <a:ext cx="10562590" cy="401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当期收费率</a:t>
            </a:r>
          </a:p>
        </p:txBody>
      </p:sp>
      <p:sp>
        <p:nvSpPr>
          <p:cNvPr id="8" name="矩形 11"/>
          <p:cNvSpPr/>
          <p:nvPr>
            <p:custDataLst>
              <p:tags r:id="rId3"/>
            </p:custDataLst>
          </p:nvPr>
        </p:nvSpPr>
        <p:spPr>
          <a:xfrm>
            <a:off x="719455" y="5734685"/>
            <a:ext cx="10756265" cy="87312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28600" indent="-228600" algn="just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集团当期综合收费率</a:t>
            </a:r>
            <a:r>
              <a:rPr lang="en-US" altLang="zh-CN" sz="1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88.2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%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，同比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1.1%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2190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</a:t>
            </a:r>
            <a:endParaRPr kumimoji="0" lang="en-US" altLang="zh-CN" sz="11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indent="-228600" algn="just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阜阳、滨湖、贵阳、闽江同比下降</a:t>
            </a:r>
            <a:r>
              <a:rPr kumimoji="0" 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高于集团均值</a:t>
            </a:r>
          </a:p>
        </p:txBody>
      </p:sp>
      <p:graphicFrame>
        <p:nvGraphicFramePr>
          <p:cNvPr id="14" name="表格 13"/>
          <p:cNvGraphicFramePr/>
          <p:nvPr>
            <p:custDataLst>
              <p:tags r:id="rId4"/>
            </p:custDataLst>
          </p:nvPr>
        </p:nvGraphicFramePr>
        <p:xfrm>
          <a:off x="1243965" y="5285740"/>
          <a:ext cx="9779000" cy="287655"/>
        </p:xfrm>
        <a:graphic>
          <a:graphicData uri="http://schemas.openxmlformats.org/drawingml/2006/table">
            <a:tbl>
              <a:tblPr/>
              <a:tblGrid>
                <a:gridCol w="698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6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0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94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3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278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311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80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533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609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876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圆角矩形 12"/>
          <p:cNvSpPr/>
          <p:nvPr>
            <p:custDataLst>
              <p:tags r:id="rId5"/>
            </p:custDataLst>
          </p:nvPr>
        </p:nvSpPr>
        <p:spPr>
          <a:xfrm>
            <a:off x="424561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2"/>
          <p:cNvSpPr/>
          <p:nvPr>
            <p:custDataLst>
              <p:tags r:id="rId6"/>
            </p:custDataLst>
          </p:nvPr>
        </p:nvSpPr>
        <p:spPr>
          <a:xfrm>
            <a:off x="708406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2"/>
          <p:cNvSpPr/>
          <p:nvPr>
            <p:custDataLst>
              <p:tags r:id="rId7"/>
            </p:custDataLst>
          </p:nvPr>
        </p:nvSpPr>
        <p:spPr>
          <a:xfrm>
            <a:off x="10617835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12"/>
          <p:cNvSpPr/>
          <p:nvPr>
            <p:custDataLst>
              <p:tags r:id="rId8"/>
            </p:custDataLst>
          </p:nvPr>
        </p:nvSpPr>
        <p:spPr>
          <a:xfrm>
            <a:off x="2820035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当期收费率</a:t>
            </a:r>
          </a:p>
        </p:txBody>
      </p:sp>
      <p:graphicFrame>
        <p:nvGraphicFramePr>
          <p:cNvPr id="23" name="图表 22"/>
          <p:cNvGraphicFramePr/>
          <p:nvPr/>
        </p:nvGraphicFramePr>
        <p:xfrm>
          <a:off x="204470" y="1558290"/>
          <a:ext cx="5836920" cy="361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168390" y="1558290"/>
          <a:ext cx="5836920" cy="361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3"/>
            </p:custDataLst>
          </p:nvPr>
        </p:nvGraphicFramePr>
        <p:xfrm>
          <a:off x="344805" y="4796155"/>
          <a:ext cx="5546725" cy="244475"/>
        </p:xfrm>
        <a:graphic>
          <a:graphicData uri="http://schemas.openxmlformats.org/drawingml/2006/table">
            <a:tbl>
              <a:tblPr/>
              <a:tblGrid>
                <a:gridCol w="39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22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3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957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413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148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235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7655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624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圆角矩形 12"/>
          <p:cNvSpPr/>
          <p:nvPr>
            <p:custDataLst>
              <p:tags r:id="rId4"/>
            </p:custDataLst>
          </p:nvPr>
        </p:nvSpPr>
        <p:spPr>
          <a:xfrm>
            <a:off x="317944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2"/>
          <p:cNvSpPr/>
          <p:nvPr>
            <p:custDataLst>
              <p:tags r:id="rId5"/>
            </p:custDataLst>
          </p:nvPr>
        </p:nvSpPr>
        <p:spPr>
          <a:xfrm>
            <a:off x="357632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12"/>
          <p:cNvSpPr/>
          <p:nvPr>
            <p:custDataLst>
              <p:tags r:id="rId6"/>
            </p:custDataLst>
          </p:nvPr>
        </p:nvSpPr>
        <p:spPr>
          <a:xfrm>
            <a:off x="397319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7"/>
            </p:custDataLst>
          </p:nvPr>
        </p:nvGraphicFramePr>
        <p:xfrm>
          <a:off x="6208395" y="4796155"/>
          <a:ext cx="5699125" cy="245110"/>
        </p:xfrm>
        <a:graphic>
          <a:graphicData uri="http://schemas.openxmlformats.org/drawingml/2006/table">
            <a:tbl>
              <a:tblPr/>
              <a:tblGrid>
                <a:gridCol w="50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90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702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613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29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7909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21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49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2608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圆角矩形 12"/>
          <p:cNvSpPr/>
          <p:nvPr>
            <p:custDataLst>
              <p:tags r:id="rId8"/>
            </p:custDataLst>
          </p:nvPr>
        </p:nvSpPr>
        <p:spPr>
          <a:xfrm>
            <a:off x="1113091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12"/>
          <p:cNvSpPr/>
          <p:nvPr>
            <p:custDataLst>
              <p:tags r:id="rId9"/>
            </p:custDataLst>
          </p:nvPr>
        </p:nvSpPr>
        <p:spPr>
          <a:xfrm>
            <a:off x="1152779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12"/>
          <p:cNvSpPr/>
          <p:nvPr>
            <p:custDataLst>
              <p:tags r:id="rId10"/>
            </p:custDataLst>
          </p:nvPr>
        </p:nvSpPr>
        <p:spPr>
          <a:xfrm>
            <a:off x="954532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1"/>
          <p:cNvSpPr/>
          <p:nvPr>
            <p:custDataLst>
              <p:tags r:id="rId11"/>
            </p:custDataLst>
          </p:nvPr>
        </p:nvSpPr>
        <p:spPr>
          <a:xfrm>
            <a:off x="204470" y="5278120"/>
            <a:ext cx="5999480" cy="137604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lvl="0" indent="0" algn="l" eaLnBrk="1" fontAlgn="auto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收费率</a:t>
            </a:r>
            <a:r>
              <a:rPr lang="en-US" altLang="zh-CN" sz="1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91.5%</a:t>
            </a:r>
            <a:r>
              <a:rPr lang="zh-CN" altLang="en-US" sz="1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1.0%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1424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万），受筑科案场（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1479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万）、文旅（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万）影响，共计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1830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  <a:endParaRPr lang="zh-CN" altLang="en-US" sz="1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↓3.9%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：都会文澜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452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万、望辰府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279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↓2.7%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城厢天府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351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万、财智中心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152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北城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↓1.6%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：域见天城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270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万、筑科案场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185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  <a:endParaRPr kumimoji="0" lang="zh-CN" altLang="en-US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0" name="矩形 11"/>
          <p:cNvSpPr/>
          <p:nvPr>
            <p:custDataLst>
              <p:tags r:id="rId12"/>
            </p:custDataLst>
          </p:nvPr>
        </p:nvSpPr>
        <p:spPr>
          <a:xfrm>
            <a:off x="6168390" y="5278120"/>
            <a:ext cx="5899150" cy="137604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lvl="0" indent="0" algn="l" eaLnBrk="1" fontAlgn="auto" hangingPunct="1">
              <a:lnSpc>
                <a:spcPct val="150000"/>
              </a:lnSpc>
              <a:spcBef>
                <a:spcPts val="500"/>
              </a:spcBef>
              <a:buNone/>
            </a:pP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收费率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78.6%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↓1.6%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766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万），多业权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↑2.9%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↓4.18%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长沙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↓11.7%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↓11.2%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↓11.9%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阜阳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↓10.3%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多业权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↑4.1%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↓35.0%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hangingPunct="1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↓4.6%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↓5.9%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↓2.4%</a:t>
            </a:r>
            <a:endParaRPr kumimoji="0" lang="en-US" altLang="zh-CN" sz="1000" b="1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" name="图表 22"/>
          <p:cNvGraphicFramePr/>
          <p:nvPr/>
        </p:nvGraphicFramePr>
        <p:xfrm>
          <a:off x="720090" y="1558290"/>
          <a:ext cx="10562590" cy="40157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历欠收费率</a:t>
            </a:r>
          </a:p>
        </p:txBody>
      </p:sp>
      <p:sp>
        <p:nvSpPr>
          <p:cNvPr id="8" name="矩形 11"/>
          <p:cNvSpPr/>
          <p:nvPr>
            <p:custDataLst>
              <p:tags r:id="rId3"/>
            </p:custDataLst>
          </p:nvPr>
        </p:nvSpPr>
        <p:spPr>
          <a:xfrm>
            <a:off x="719455" y="5734685"/>
            <a:ext cx="10756265" cy="87312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28600" indent="-228600" algn="just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集团历欠综合收费率</a:t>
            </a:r>
            <a:r>
              <a:rPr lang="en-US" altLang="zh-CN" sz="11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46.9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%</a:t>
            </a:r>
            <a:r>
              <a:rPr kumimoji="0" lang="zh-CN" alt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，同比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3.8%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↑269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  <a:endParaRPr kumimoji="0" lang="en-US" altLang="zh-CN" sz="11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indent="-228600" algn="just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北城、宁波、滨湖、阜阳、连江同比下降</a:t>
            </a:r>
            <a:r>
              <a:rPr kumimoji="0" lang="en-US" altLang="zh-CN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5%</a:t>
            </a:r>
            <a:r>
              <a:rPr kumimoji="0" lang="zh-CN" altLang="en-US" sz="11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以上</a:t>
            </a:r>
          </a:p>
        </p:txBody>
      </p:sp>
      <p:graphicFrame>
        <p:nvGraphicFramePr>
          <p:cNvPr id="14" name="表格 13"/>
          <p:cNvGraphicFramePr/>
          <p:nvPr>
            <p:custDataLst>
              <p:tags r:id="rId4"/>
            </p:custDataLst>
          </p:nvPr>
        </p:nvGraphicFramePr>
        <p:xfrm>
          <a:off x="1215390" y="5277485"/>
          <a:ext cx="9807575" cy="295910"/>
        </p:xfrm>
        <a:graphic>
          <a:graphicData uri="http://schemas.openxmlformats.org/drawingml/2006/table">
            <a:tbl>
              <a:tblPr/>
              <a:tblGrid>
                <a:gridCol w="7004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1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32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13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283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7099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72771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73787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736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959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-6.3%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-19.0%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圆角矩形 12"/>
          <p:cNvSpPr/>
          <p:nvPr>
            <p:custDataLst>
              <p:tags r:id="rId5"/>
            </p:custDataLst>
          </p:nvPr>
        </p:nvSpPr>
        <p:spPr>
          <a:xfrm>
            <a:off x="354330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2"/>
          <p:cNvSpPr/>
          <p:nvPr>
            <p:custDataLst>
              <p:tags r:id="rId6"/>
            </p:custDataLst>
          </p:nvPr>
        </p:nvSpPr>
        <p:spPr>
          <a:xfrm>
            <a:off x="5664835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圆角矩形 12"/>
          <p:cNvSpPr/>
          <p:nvPr>
            <p:custDataLst>
              <p:tags r:id="rId7"/>
            </p:custDataLst>
          </p:nvPr>
        </p:nvSpPr>
        <p:spPr>
          <a:xfrm>
            <a:off x="282829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圆角矩形 12"/>
          <p:cNvSpPr/>
          <p:nvPr>
            <p:custDataLst>
              <p:tags r:id="rId8"/>
            </p:custDataLst>
          </p:nvPr>
        </p:nvSpPr>
        <p:spPr>
          <a:xfrm>
            <a:off x="636778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圆角矩形 12"/>
          <p:cNvSpPr/>
          <p:nvPr>
            <p:custDataLst>
              <p:tags r:id="rId9"/>
            </p:custDataLst>
          </p:nvPr>
        </p:nvSpPr>
        <p:spPr>
          <a:xfrm>
            <a:off x="7777480" y="5035233"/>
            <a:ext cx="342900" cy="24638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历欠收费率</a:t>
            </a:r>
          </a:p>
        </p:txBody>
      </p:sp>
      <p:graphicFrame>
        <p:nvGraphicFramePr>
          <p:cNvPr id="23" name="图表 22"/>
          <p:cNvGraphicFramePr/>
          <p:nvPr/>
        </p:nvGraphicFramePr>
        <p:xfrm>
          <a:off x="266700" y="1558290"/>
          <a:ext cx="5836920" cy="361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graphicFrame>
        <p:nvGraphicFramePr>
          <p:cNvPr id="4" name="图表 3"/>
          <p:cNvGraphicFramePr/>
          <p:nvPr/>
        </p:nvGraphicFramePr>
        <p:xfrm>
          <a:off x="6158865" y="1558290"/>
          <a:ext cx="5836920" cy="361378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graphicFrame>
        <p:nvGraphicFramePr>
          <p:cNvPr id="15" name="表格 14"/>
          <p:cNvGraphicFramePr/>
          <p:nvPr>
            <p:custDataLst>
              <p:tags r:id="rId3"/>
            </p:custDataLst>
          </p:nvPr>
        </p:nvGraphicFramePr>
        <p:xfrm>
          <a:off x="407035" y="4796155"/>
          <a:ext cx="5546716" cy="244475"/>
        </p:xfrm>
        <a:graphic>
          <a:graphicData uri="http://schemas.openxmlformats.org/drawingml/2006/table">
            <a:tbl>
              <a:tblPr/>
              <a:tblGrid>
                <a:gridCol w="396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1465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419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5941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8751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9619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-12.5%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-11.4%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17.8%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-3.4%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-5.5%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" name="圆角矩形 12"/>
          <p:cNvSpPr/>
          <p:nvPr>
            <p:custDataLst>
              <p:tags r:id="rId4"/>
            </p:custDataLst>
          </p:nvPr>
        </p:nvSpPr>
        <p:spPr>
          <a:xfrm>
            <a:off x="205930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圆角矩形 12"/>
          <p:cNvSpPr/>
          <p:nvPr>
            <p:custDataLst>
              <p:tags r:id="rId5"/>
            </p:custDataLst>
          </p:nvPr>
        </p:nvSpPr>
        <p:spPr>
          <a:xfrm>
            <a:off x="364744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圆角矩形 12"/>
          <p:cNvSpPr/>
          <p:nvPr>
            <p:custDataLst>
              <p:tags r:id="rId6"/>
            </p:custDataLst>
          </p:nvPr>
        </p:nvSpPr>
        <p:spPr>
          <a:xfrm>
            <a:off x="284861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aphicFrame>
        <p:nvGraphicFramePr>
          <p:cNvPr id="16" name="表格 15"/>
          <p:cNvGraphicFramePr/>
          <p:nvPr>
            <p:custDataLst>
              <p:tags r:id="rId7"/>
            </p:custDataLst>
          </p:nvPr>
        </p:nvGraphicFramePr>
        <p:xfrm>
          <a:off x="6190615" y="4796155"/>
          <a:ext cx="5699120" cy="245110"/>
        </p:xfrm>
        <a:graphic>
          <a:graphicData uri="http://schemas.openxmlformats.org/drawingml/2006/table">
            <a:tbl>
              <a:tblPr/>
              <a:tblGrid>
                <a:gridCol w="5257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9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0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3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16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705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607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5216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226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7973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2545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530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451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-7.7%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-18.2%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-9.9%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-10.4%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-22.6%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B05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-2.0%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矩形 11"/>
          <p:cNvSpPr/>
          <p:nvPr>
            <p:custDataLst>
              <p:tags r:id="rId8"/>
            </p:custDataLst>
          </p:nvPr>
        </p:nvSpPr>
        <p:spPr>
          <a:xfrm>
            <a:off x="266700" y="5278120"/>
            <a:ext cx="5836285" cy="137604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lvl="0" indent="0" algn="l" eaLnBrk="1" fontAlgn="auto" latinLnBrk="0" hangingPunct="1">
              <a:lnSpc>
                <a:spcPct val="150000"/>
              </a:lnSpc>
              <a:spcBef>
                <a:spcPts val="800"/>
              </a:spcBef>
              <a:buNone/>
            </a:pP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收费率</a:t>
            </a:r>
            <a:r>
              <a:rPr lang="en-US" altLang="zh-CN" sz="1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52.2%</a:t>
            </a:r>
            <a:r>
              <a:rPr lang="zh-CN" altLang="en-US" sz="1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↑0.1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%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↑1042</a:t>
            </a:r>
            <a:r>
              <a:rPr lang="zh-CN" altLang="en-US" sz="100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</a:t>
            </a:r>
            <a:endParaRPr lang="zh-CN" altLang="en-US" sz="1000" b="1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宁波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↓12.5%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：都会文澜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122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万、观澜苑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82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万、清芷园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54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北城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↓1.6%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：域见天城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270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万、筑科案场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83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800"/>
              </a:spcBef>
              <a:buAutoNum type="arabicPeriod"/>
            </a:pPr>
            <a:r>
              <a:rPr kumimoji="0" lang="en-US" altLang="zh-CN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</a:t>
            </a:r>
            <a:r>
              <a:rPr kumimoji="0" lang="en-US" altLang="zh-CN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↓5.0%</a:t>
            </a: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临滨苑写字楼</a:t>
            </a:r>
            <a:r>
              <a:rPr kumimoji="0" lang="en-US" altLang="zh-CN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54</a:t>
            </a: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万、</a:t>
            </a:r>
            <a:r>
              <a:rPr kumimoji="0" 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6</a:t>
            </a: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个项目欠费</a:t>
            </a:r>
            <a:r>
              <a:rPr kumimoji="0" lang="en-US" altLang="zh-CN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10</a:t>
            </a:r>
            <a:r>
              <a:rPr kumimoji="0" lang="zh-CN" altLang="en-US" sz="100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万以上</a:t>
            </a:r>
          </a:p>
        </p:txBody>
      </p:sp>
      <p:sp>
        <p:nvSpPr>
          <p:cNvPr id="10" name="矩形 11"/>
          <p:cNvSpPr/>
          <p:nvPr>
            <p:custDataLst>
              <p:tags r:id="rId9"/>
            </p:custDataLst>
          </p:nvPr>
        </p:nvSpPr>
        <p:spPr>
          <a:xfrm>
            <a:off x="6168390" y="5278120"/>
            <a:ext cx="5899150" cy="137604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lvl="0" indent="0" algn="l" eaLnBrk="1" fontAlgn="auto" latinLnBrk="0" hangingPunct="1">
              <a:lnSpc>
                <a:spcPct val="150000"/>
              </a:lnSpc>
              <a:spcBef>
                <a:spcPts val="300"/>
              </a:spcBef>
              <a:buNone/>
            </a:pP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收费率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41.5%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↓7.7%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↓773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万）</a:t>
            </a: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北城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↓22.6%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↓2.9%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↓0.43%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阜阳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↓18.2%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↓18.9%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↓14.7%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贵阳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↓10.4%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↓3.4%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↓3.2%</a:t>
            </a:r>
            <a:endParaRPr lang="zh-CN" altLang="en-US" sz="10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lvl="0" indent="-228600" algn="l" eaLnBrk="1" fontAlgn="auto" latinLnBrk="0" hangingPunct="1">
              <a:lnSpc>
                <a:spcPct val="150000"/>
              </a:lnSpc>
              <a:spcBef>
                <a:spcPts val="300"/>
              </a:spcBef>
              <a:buAutoNum type="arabicPeriod"/>
            </a:pP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 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滨湖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↓8.0%</a:t>
            </a:r>
            <a:r>
              <a:rPr lang="zh-CN" altLang="en-US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：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多业权</a:t>
            </a:r>
            <a:r>
              <a:rPr lang="en-US" altLang="zh-CN" sz="10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↓11.8%</a:t>
            </a:r>
            <a:r>
              <a:rPr lang="zh-CN" altLang="en-US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，单业权</a:t>
            </a:r>
            <a:r>
              <a:rPr lang="en-US" altLang="zh-CN" sz="1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↓1.2%</a:t>
            </a:r>
            <a:endParaRPr kumimoji="0" lang="zh-CN" altLang="en-US" sz="100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9" name="圆角矩形 12"/>
          <p:cNvSpPr/>
          <p:nvPr>
            <p:custDataLst>
              <p:tags r:id="rId10"/>
            </p:custDataLst>
          </p:nvPr>
        </p:nvSpPr>
        <p:spPr>
          <a:xfrm>
            <a:off x="522668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圆角矩形 12"/>
          <p:cNvSpPr/>
          <p:nvPr>
            <p:custDataLst>
              <p:tags r:id="rId11"/>
            </p:custDataLst>
          </p:nvPr>
        </p:nvSpPr>
        <p:spPr>
          <a:xfrm>
            <a:off x="676465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12"/>
            </p:custDataLst>
          </p:nvPr>
        </p:nvSpPr>
        <p:spPr>
          <a:xfrm>
            <a:off x="716153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圆角矩形 12"/>
          <p:cNvSpPr/>
          <p:nvPr>
            <p:custDataLst>
              <p:tags r:id="rId13"/>
            </p:custDataLst>
          </p:nvPr>
        </p:nvSpPr>
        <p:spPr>
          <a:xfrm>
            <a:off x="795020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圆角矩形 16"/>
          <p:cNvSpPr/>
          <p:nvPr>
            <p:custDataLst>
              <p:tags r:id="rId14"/>
            </p:custDataLst>
          </p:nvPr>
        </p:nvSpPr>
        <p:spPr>
          <a:xfrm>
            <a:off x="8347075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圆角矩形 12"/>
          <p:cNvSpPr/>
          <p:nvPr>
            <p:custDataLst>
              <p:tags r:id="rId15"/>
            </p:custDataLst>
          </p:nvPr>
        </p:nvSpPr>
        <p:spPr>
          <a:xfrm>
            <a:off x="8749030" y="4572635"/>
            <a:ext cx="269875" cy="168910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清欠专项活动</a:t>
            </a:r>
          </a:p>
        </p:txBody>
      </p:sp>
      <p:graphicFrame>
        <p:nvGraphicFramePr>
          <p:cNvPr id="5" name="Table 6"/>
          <p:cNvGraphicFramePr>
            <a:graphicFrameLocks noGrp="1"/>
          </p:cNvGraphicFramePr>
          <p:nvPr/>
        </p:nvGraphicFramePr>
        <p:xfrm>
          <a:off x="424180" y="1538605"/>
          <a:ext cx="11484000" cy="40411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06705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</a:p>
                  </a:txBody>
                  <a:tcPr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基础指标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实收金额</a:t>
                      </a: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基础指标完成率</a:t>
                      </a: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自建完成率</a:t>
                      </a: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000" b="1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外拓完成率</a:t>
                      </a: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罗源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1841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1876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闽江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477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479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昆明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736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714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贵阳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2557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2460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滨湖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1107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1048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阜阳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604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549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版纳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829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751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连江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2092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1893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606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2889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2559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1679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1387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北城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2389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1911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长沙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1107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880 </a:t>
                      </a:r>
                    </a:p>
                  </a:txBody>
                  <a:tcPr marL="9842" marR="9842" marT="9842" marB="0"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543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腾冲</a:t>
                      </a:r>
                    </a:p>
                  </a:txBody>
                  <a:tcPr marL="9842" marR="9842" marT="9842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376 </a:t>
                      </a:r>
                    </a:p>
                  </a:txBody>
                  <a:tcPr marL="9842" marR="9842" marT="9842" marB="0"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288 </a:t>
                      </a:r>
                    </a:p>
                  </a:txBody>
                  <a:tcPr marL="9842" marR="9842" marT="9842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733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</a:t>
                      </a:r>
                    </a:p>
                  </a:txBody>
                  <a:tcPr marL="9842" marR="9842" marT="9842" marB="0"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18683 </a:t>
                      </a:r>
                    </a:p>
                  </a:txBody>
                  <a:tcPr marL="9842" marR="9842" marT="9842" marB="0"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16796 </a:t>
                      </a:r>
                    </a:p>
                  </a:txBody>
                  <a:tcPr marL="9842" marR="9842" marT="9842" marB="0"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6" name="Chart 10"/>
          <p:cNvGraphicFramePr>
            <a:graphicFrameLocks noGrp="1"/>
          </p:cNvGraphicFramePr>
          <p:nvPr/>
        </p:nvGraphicFramePr>
        <p:xfrm>
          <a:off x="3082925" y="1672590"/>
          <a:ext cx="27000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048691" name="文本框 6"/>
          <p:cNvSpPr txBox="1"/>
          <p:nvPr/>
        </p:nvSpPr>
        <p:spPr>
          <a:xfrm>
            <a:off x="342265" y="5629910"/>
            <a:ext cx="11849735" cy="9810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latinLnBrk="0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25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年清欠专项活动共计回款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1.68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亿元，基础指标完成率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89.9%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家公司整体完成基础指标，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6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家公司完成率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90%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以上</a:t>
            </a:r>
            <a:endParaRPr lang="en-US" altLang="zh-CN" sz="1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indent="-228600" latinLnBrk="0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自建：基础指标完成率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97.6%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6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家公司完成指标，</a:t>
            </a:r>
            <a:r>
              <a:rPr lang="en-US" altLang="zh-CN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</a:t>
            </a: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完成率</a:t>
            </a:r>
            <a:r>
              <a:rPr lang="en-US" altLang="zh-CN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90%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以上</a:t>
            </a:r>
            <a:endParaRPr lang="zh-CN" altLang="en-US" sz="110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indent="-228600" latinLnBrk="0">
              <a:lnSpc>
                <a:spcPct val="150000"/>
              </a:lnSpc>
              <a:spcBef>
                <a:spcPts val="500"/>
              </a:spcBef>
              <a:buAutoNum type="arabicPeriod"/>
            </a:pPr>
            <a:r>
              <a:rPr lang="zh-CN" altLang="en-US" sz="110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外拓：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基础指标完成率</a:t>
            </a:r>
            <a:r>
              <a:rPr lang="en-US" altLang="zh-CN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81.6%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</a:t>
            </a:r>
            <a:r>
              <a:rPr lang="en-US" altLang="zh-CN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家公司完成指标，</a:t>
            </a:r>
            <a:r>
              <a:rPr lang="en-US" altLang="zh-CN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3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家公司完成率</a:t>
            </a:r>
            <a:r>
              <a:rPr lang="en-US" altLang="zh-CN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90%</a:t>
            </a:r>
            <a:r>
              <a:rPr lang="zh-CN" altLang="en-US" sz="11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以上</a:t>
            </a:r>
            <a:endParaRPr kumimoji="0" lang="zh-CN" altLang="en-US" sz="11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graphicFrame>
        <p:nvGraphicFramePr>
          <p:cNvPr id="3" name="Chart 10"/>
          <p:cNvGraphicFramePr>
            <a:graphicFrameLocks noGrp="1"/>
          </p:cNvGraphicFramePr>
          <p:nvPr/>
        </p:nvGraphicFramePr>
        <p:xfrm>
          <a:off x="5876925" y="1672590"/>
          <a:ext cx="30600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aphicFrame>
        <p:nvGraphicFramePr>
          <p:cNvPr id="2" name="Chart 10"/>
          <p:cNvGraphicFramePr>
            <a:graphicFrameLocks noGrp="1"/>
          </p:cNvGraphicFramePr>
          <p:nvPr/>
        </p:nvGraphicFramePr>
        <p:xfrm>
          <a:off x="8806815" y="1672590"/>
          <a:ext cx="2880000" cy="4038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6" name="文本框 6"/>
          <p:cNvSpPr txBox="1"/>
          <p:nvPr/>
        </p:nvSpPr>
        <p:spPr>
          <a:xfrm>
            <a:off x="989330" y="6105525"/>
            <a:ext cx="9596755" cy="639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171450" indent="-171450" latinLnBrk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年空间资源收入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7719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万元，完成孰高指标，较同期实现增收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779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万</a:t>
            </a:r>
          </a:p>
          <a:p>
            <a:pPr marL="171450" indent="-171450" latinLnBrk="0">
              <a:lnSpc>
                <a:spcPct val="15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10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家公司完成孰高指标</a:t>
            </a:r>
          </a:p>
        </p:txBody>
      </p:sp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空间资源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1960563" y="1449705"/>
            <a:ext cx="172466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latinLnBrk="0">
              <a:lnSpc>
                <a:spcPct val="110000"/>
              </a:lnSpc>
              <a:spcAft>
                <a:spcPts val="500"/>
              </a:spcAft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2024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年达成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4278313" y="1449705"/>
            <a:ext cx="1724660" cy="2940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 latinLnBrk="0">
              <a:lnSpc>
                <a:spcPct val="110000"/>
              </a:lnSpc>
              <a:spcAft>
                <a:spcPts val="500"/>
              </a:spcAft>
            </a:pP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</a:t>
            </a:r>
            <a:r>
              <a:rPr 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25</a:t>
            </a:r>
            <a:r>
              <a:rPr lang="zh-CN" altLang="en-US" sz="12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年预算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6675755" y="1468120"/>
            <a:ext cx="207073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ctr" latinLnBrk="0">
              <a:lnSpc>
                <a:spcPct val="100000"/>
              </a:lnSpc>
              <a:spcAft>
                <a:spcPts val="500"/>
              </a:spcAft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2025年业务目标</a:t>
            </a:r>
          </a:p>
          <a:p>
            <a:pPr marL="0" lvl="0" indent="0" algn="ctr" latinLnBrk="0">
              <a:lnSpc>
                <a:spcPct val="100000"/>
              </a:lnSpc>
              <a:spcAft>
                <a:spcPts val="500"/>
              </a:spcAft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7397（↑458）</a:t>
            </a:r>
          </a:p>
        </p:txBody>
      </p:sp>
      <p:sp>
        <p:nvSpPr>
          <p:cNvPr id="8" name="燕尾形 7"/>
          <p:cNvSpPr/>
          <p:nvPr/>
        </p:nvSpPr>
        <p:spPr>
          <a:xfrm>
            <a:off x="369824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燕尾形 14"/>
          <p:cNvSpPr/>
          <p:nvPr/>
        </p:nvSpPr>
        <p:spPr>
          <a:xfrm>
            <a:off x="389128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燕尾形 15"/>
          <p:cNvSpPr/>
          <p:nvPr/>
        </p:nvSpPr>
        <p:spPr>
          <a:xfrm>
            <a:off x="625602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642239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8985" y="1607185"/>
            <a:ext cx="12299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年度指标</a:t>
            </a:r>
          </a:p>
        </p:txBody>
      </p:sp>
      <p:sp>
        <p:nvSpPr>
          <p:cNvPr id="38" name="文本框 37"/>
          <p:cNvSpPr txBox="1"/>
          <p:nvPr/>
        </p:nvSpPr>
        <p:spPr>
          <a:xfrm>
            <a:off x="1996123" y="1700530"/>
            <a:ext cx="1653540" cy="294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 latinLnBrk="0">
              <a:lnSpc>
                <a:spcPct val="110000"/>
              </a:lnSpc>
              <a:spcAft>
                <a:spcPts val="500"/>
              </a:spcAft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6939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</a:t>
            </a:r>
          </a:p>
        </p:txBody>
      </p:sp>
      <p:sp>
        <p:nvSpPr>
          <p:cNvPr id="39" name="文本框 38"/>
          <p:cNvSpPr txBox="1"/>
          <p:nvPr/>
        </p:nvSpPr>
        <p:spPr>
          <a:xfrm>
            <a:off x="4411663" y="1680845"/>
            <a:ext cx="1656080" cy="2940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 latinLnBrk="0">
              <a:lnSpc>
                <a:spcPct val="110000"/>
              </a:lnSpc>
              <a:spcAft>
                <a:spcPts val="500"/>
              </a:spcAft>
            </a:pP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7056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万元（</a:t>
            </a:r>
            <a:r>
              <a:rPr lang="en-US" altLang="zh-CN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↑117</a:t>
            </a:r>
            <a:r>
              <a:rPr lang="zh-CN" altLang="en-US" sz="12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）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9224010" y="1459865"/>
            <a:ext cx="2070735" cy="5346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lvl="0" indent="0" algn="ctr" latinLnBrk="0">
              <a:lnSpc>
                <a:spcPct val="100000"/>
              </a:lnSpc>
              <a:spcAft>
                <a:spcPts val="500"/>
              </a:spcAft>
              <a:buClrTx/>
              <a:buSzTx/>
              <a:buFontTx/>
            </a:pPr>
            <a:r>
              <a:rPr lang="en-US" altLang="zh-CN" sz="1200" b="1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2025年</a:t>
            </a:r>
            <a:r>
              <a:rPr lang="zh-CN" altLang="en-US" sz="1200" b="1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实际完成</a:t>
            </a:r>
            <a:endParaRPr lang="en-US" altLang="zh-CN" sz="1200" b="1">
              <a:solidFill>
                <a:srgbClr val="005D9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0" lvl="0" indent="0" algn="ctr" latinLnBrk="0">
              <a:lnSpc>
                <a:spcPct val="100000"/>
              </a:lnSpc>
              <a:spcAft>
                <a:spcPts val="500"/>
              </a:spcAft>
              <a:buClrTx/>
              <a:buSzTx/>
              <a:buFontTx/>
            </a:pPr>
            <a:r>
              <a:rPr lang="en-US" altLang="zh-CN" sz="1200" b="1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7719（↑779）</a:t>
            </a:r>
          </a:p>
        </p:txBody>
      </p:sp>
      <p:sp>
        <p:nvSpPr>
          <p:cNvPr id="3" name="燕尾形 2"/>
          <p:cNvSpPr/>
          <p:nvPr/>
        </p:nvSpPr>
        <p:spPr>
          <a:xfrm>
            <a:off x="860298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燕尾形 3"/>
          <p:cNvSpPr/>
          <p:nvPr/>
        </p:nvSpPr>
        <p:spPr>
          <a:xfrm>
            <a:off x="8769350" y="1607185"/>
            <a:ext cx="228600" cy="309880"/>
          </a:xfrm>
          <a:prstGeom prst="chevron">
            <a:avLst/>
          </a:prstGeom>
          <a:solidFill>
            <a:schemeClr val="accent1">
              <a:lumMod val="20000"/>
              <a:lumOff val="80000"/>
            </a:schemeClr>
          </a:solidFill>
          <a:ln>
            <a:headEnd type="none" w="med" len="med"/>
            <a:tailEnd type="none" w="med" len="med"/>
          </a:ln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rcRect l="16954" t="7958"/>
          <a:stretch>
            <a:fillRect/>
          </a:stretch>
        </p:blipFill>
        <p:spPr>
          <a:xfrm>
            <a:off x="1061720" y="2221548"/>
            <a:ext cx="4680000" cy="18540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0" name="文本框 9"/>
          <p:cNvSpPr txBox="1"/>
          <p:nvPr/>
        </p:nvSpPr>
        <p:spPr>
          <a:xfrm>
            <a:off x="532765" y="2788858"/>
            <a:ext cx="455930" cy="7194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l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一季度</a:t>
            </a:r>
          </a:p>
        </p:txBody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6"/>
          <a:srcRect l="16676" t="5948" r="-100"/>
          <a:stretch>
            <a:fillRect/>
          </a:stretch>
        </p:blipFill>
        <p:spPr>
          <a:xfrm>
            <a:off x="1061720" y="4187508"/>
            <a:ext cx="4680000" cy="180298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19" name="文本框 18"/>
          <p:cNvSpPr txBox="1"/>
          <p:nvPr/>
        </p:nvSpPr>
        <p:spPr>
          <a:xfrm>
            <a:off x="577850" y="4720384"/>
            <a:ext cx="410845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二季度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6121400" y="2779968"/>
            <a:ext cx="34798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三季度</a:t>
            </a:r>
          </a:p>
        </p:txBody>
      </p:sp>
      <p:sp>
        <p:nvSpPr>
          <p:cNvPr id="23" name="文本框 22"/>
          <p:cNvSpPr txBox="1"/>
          <p:nvPr/>
        </p:nvSpPr>
        <p:spPr>
          <a:xfrm>
            <a:off x="6139815" y="4720384"/>
            <a:ext cx="311150" cy="737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四季度</a:t>
            </a: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1290" y="2225217"/>
            <a:ext cx="4680000" cy="18467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1290" y="4181731"/>
            <a:ext cx="4680000" cy="181454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充电桩</a:t>
            </a:r>
          </a:p>
        </p:txBody>
      </p:sp>
      <p:sp>
        <p:nvSpPr>
          <p:cNvPr id="125" name="矩形 11"/>
          <p:cNvSpPr/>
          <p:nvPr>
            <p:custDataLst>
              <p:tags r:id="rId3"/>
            </p:custDataLst>
          </p:nvPr>
        </p:nvSpPr>
        <p:spPr>
          <a:xfrm>
            <a:off x="7407776" y="1661458"/>
            <a:ext cx="2369357" cy="33701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充电桩收入情况</a:t>
            </a:r>
            <a:r>
              <a:rPr kumimoji="0" lang="en-US" altLang="zh-CN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-</a:t>
            </a:r>
            <a:r>
              <a:rPr kumimoji="0" lang="zh-CN" altLang="en-US" sz="1400" b="1" i="0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整体</a:t>
            </a:r>
          </a:p>
        </p:txBody>
      </p:sp>
      <p:graphicFrame>
        <p:nvGraphicFramePr>
          <p:cNvPr id="127" name="表格 126"/>
          <p:cNvGraphicFramePr/>
          <p:nvPr>
            <p:custDataLst>
              <p:tags r:id="rId4"/>
            </p:custDataLst>
          </p:nvPr>
        </p:nvGraphicFramePr>
        <p:xfrm>
          <a:off x="7397750" y="3428086"/>
          <a:ext cx="4357370" cy="220345"/>
        </p:xfrm>
        <a:graphic>
          <a:graphicData uri="http://schemas.openxmlformats.org/drawingml/2006/table">
            <a:tbl>
              <a:tblPr/>
              <a:tblGrid>
                <a:gridCol w="334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5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333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3464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3401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</a:tblGrid>
              <a:tr h="2203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84.0%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16.0%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CC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-4.0%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CC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-8.0%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 dirty="0">
                          <a:solidFill>
                            <a:srgbClr val="CC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-14.0%</a:t>
                      </a:r>
                    </a:p>
                  </a:txBody>
                  <a:tcPr marL="6667" marR="6667" marT="6667" marB="0" anchor="ctr">
                    <a:lnL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FFFFFF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8" name="矩形 11"/>
          <p:cNvSpPr/>
          <p:nvPr>
            <p:custDataLst>
              <p:tags r:id="rId5"/>
            </p:custDataLst>
          </p:nvPr>
        </p:nvSpPr>
        <p:spPr>
          <a:xfrm>
            <a:off x="7223125" y="3680878"/>
            <a:ext cx="2369357" cy="360680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充电桩设备及利润情况</a:t>
            </a:r>
          </a:p>
        </p:txBody>
      </p:sp>
      <p:graphicFrame>
        <p:nvGraphicFramePr>
          <p:cNvPr id="129" name="表格 128"/>
          <p:cNvGraphicFramePr/>
          <p:nvPr>
            <p:custDataLst>
              <p:tags r:id="rId6"/>
            </p:custDataLst>
          </p:nvPr>
        </p:nvGraphicFramePr>
        <p:xfrm>
          <a:off x="7324927" y="4103393"/>
          <a:ext cx="4462140" cy="2127250"/>
        </p:xfrm>
        <a:graphic>
          <a:graphicData uri="http://schemas.openxmlformats.org/drawingml/2006/table">
            <a:tbl>
              <a:tblPr/>
              <a:tblGrid>
                <a:gridCol w="743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36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36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36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36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436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公司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综合利润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自营端口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联营端口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自营利润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联营利润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北城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27%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滨湖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31%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69%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阜阳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65%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72%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长沙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91%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62%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贵阳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40%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80%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52%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昆明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95%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63%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37%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罗源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41%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56%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47%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34%</a:t>
                      </a:r>
                    </a:p>
                  </a:txBody>
                  <a:tcPr marL="9842" marR="9842" marT="9842" marB="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272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总计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BF3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39%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67%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55%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33%</a:t>
                      </a:r>
                    </a:p>
                  </a:txBody>
                  <a:tcPr marL="9842" marR="9842" marT="9842" marB="0" anchor="ctr">
                    <a:lnL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0" name="文本框 129"/>
          <p:cNvSpPr txBox="1"/>
          <p:nvPr/>
        </p:nvSpPr>
        <p:spPr>
          <a:xfrm>
            <a:off x="7237528" y="6323855"/>
            <a:ext cx="4516957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zh-CN" altLang="en-US" sz="1050" dirty="0">
                <a:solidFill>
                  <a:schemeClr val="tx1"/>
                </a:solidFill>
                <a:latin typeface="+mn-ea"/>
                <a:ea typeface="+mn-ea"/>
              </a:rPr>
              <a:t>自营利润率高于联营，自营</a:t>
            </a:r>
            <a:r>
              <a:rPr lang="zh-CN" altLang="en-US" sz="1050" dirty="0">
                <a:latin typeface="+mn-ea"/>
                <a:ea typeface="+mn-ea"/>
              </a:rPr>
              <a:t>端口数低于联营，存在优化空间</a:t>
            </a:r>
          </a:p>
        </p:txBody>
      </p:sp>
      <p:grpSp>
        <p:nvGrpSpPr>
          <p:cNvPr id="131" name="组合 130"/>
          <p:cNvGrpSpPr/>
          <p:nvPr/>
        </p:nvGrpSpPr>
        <p:grpSpPr>
          <a:xfrm>
            <a:off x="376684" y="1586218"/>
            <a:ext cx="6401435" cy="586346"/>
            <a:chOff x="4753799" y="187284"/>
            <a:chExt cx="6401435" cy="910633"/>
          </a:xfrm>
        </p:grpSpPr>
        <p:sp>
          <p:nvSpPr>
            <p:cNvPr id="132" name="矩形: 圆角 21"/>
            <p:cNvSpPr/>
            <p:nvPr/>
          </p:nvSpPr>
          <p:spPr bwMode="auto">
            <a:xfrm>
              <a:off x="4753799" y="187284"/>
              <a:ext cx="6401435" cy="783039"/>
            </a:xfrm>
            <a:prstGeom prst="roundRect">
              <a:avLst>
                <a:gd name="adj" fmla="val 9316"/>
              </a:avLst>
            </a:prstGeom>
            <a:solidFill>
              <a:schemeClr val="accent1">
                <a:lumMod val="20000"/>
                <a:lumOff val="80000"/>
                <a:alpha val="62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rtlCol="0" anchor="t" anchorCtr="0" compatLnSpc="1"/>
            <a:lstStyle/>
            <a:p>
              <a:pPr marL="0" marR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 typeface="Arial" panose="020B0604020202020204" pitchFamily="34" charset="0"/>
                <a:buNone/>
              </a:pPr>
              <a:endParaRPr kumimoji="0" lang="zh-CN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4886603" y="310933"/>
              <a:ext cx="3524865" cy="7869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收入  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1466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万元  </a:t>
              </a:r>
              <a:r>
                <a:rPr lang="zh-CN" altLang="en-US" sz="9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↑</a:t>
              </a:r>
              <a:r>
                <a:rPr lang="en-US" altLang="zh-CN" sz="9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2%</a:t>
              </a:r>
            </a:p>
            <a:p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7249984" y="306614"/>
              <a:ext cx="3698875" cy="52367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毛利额  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736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万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 </a:t>
              </a:r>
              <a:r>
                <a:rPr lang="zh-CN" altLang="en-US" sz="8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↑</a:t>
              </a:r>
              <a:r>
                <a:rPr lang="en-US" altLang="zh-CN" sz="800" b="1" dirty="0">
                  <a:solidFill>
                    <a:srgbClr val="00B05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2%</a:t>
              </a:r>
              <a:r>
                <a:rPr lang="zh-CN" altLang="en-US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             </a:t>
              </a:r>
              <a:r>
                <a:rPr lang="zh-CN" altLang="en-US" sz="1100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利润率   </a:t>
              </a:r>
              <a:r>
                <a:rPr lang="en-US" altLang="zh-CN" sz="1600" b="1" dirty="0">
                  <a:latin typeface="微软雅黑" panose="020B0503020204020204" pitchFamily="34" charset="-122"/>
                  <a:ea typeface="微软雅黑" panose="020B0503020204020204" pitchFamily="34" charset="-122"/>
                  <a:sym typeface="Calibri" panose="020F0502020204030204" pitchFamily="34" charset="0"/>
                </a:rPr>
                <a:t>51% </a:t>
              </a:r>
              <a:r>
                <a:rPr kumimoji="0" lang="zh-CN" altLang="en-US" sz="900" b="1" i="0" u="none" strike="noStrike" kern="120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持平</a:t>
              </a:r>
              <a:r>
                <a:rPr kumimoji="0" lang="zh-CN" altLang="en-US" sz="6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 </a:t>
              </a:r>
              <a:endParaRPr lang="zh-CN" altLang="en-US" sz="11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35" name="矩形 134"/>
          <p:cNvSpPr/>
          <p:nvPr/>
        </p:nvSpPr>
        <p:spPr>
          <a:xfrm>
            <a:off x="2733636" y="4484494"/>
            <a:ext cx="1794278" cy="784225"/>
          </a:xfrm>
          <a:prstGeom prst="rect">
            <a:avLst/>
          </a:prstGeom>
          <a:solidFill>
            <a:schemeClr val="accent1">
              <a:alpha val="32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36" name="矩形 135"/>
          <p:cNvSpPr/>
          <p:nvPr/>
        </p:nvSpPr>
        <p:spPr>
          <a:xfrm>
            <a:off x="4542409" y="2970019"/>
            <a:ext cx="1701885" cy="1494140"/>
          </a:xfrm>
          <a:prstGeom prst="rect">
            <a:avLst/>
          </a:prstGeom>
          <a:solidFill>
            <a:srgbClr val="FFFF00">
              <a:alpha val="7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1040130" y="2970019"/>
            <a:ext cx="1701885" cy="1514475"/>
          </a:xfrm>
          <a:prstGeom prst="rect">
            <a:avLst/>
          </a:prstGeom>
          <a:solidFill>
            <a:srgbClr val="C00000">
              <a:alpha val="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38" name="矩形 137"/>
          <p:cNvSpPr/>
          <p:nvPr/>
        </p:nvSpPr>
        <p:spPr>
          <a:xfrm>
            <a:off x="2738082" y="2970020"/>
            <a:ext cx="1794278" cy="1508804"/>
          </a:xfrm>
          <a:prstGeom prst="rect">
            <a:avLst/>
          </a:prstGeom>
          <a:solidFill>
            <a:schemeClr val="accent1">
              <a:alpha val="9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139" name="直接连接符 138"/>
          <p:cNvCxnSpPr/>
          <p:nvPr/>
        </p:nvCxnSpPr>
        <p:spPr bwMode="auto">
          <a:xfrm>
            <a:off x="7015913" y="1948139"/>
            <a:ext cx="0" cy="4637326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0" name="文本框 139"/>
          <p:cNvSpPr txBox="1"/>
          <p:nvPr/>
        </p:nvSpPr>
        <p:spPr>
          <a:xfrm>
            <a:off x="1120011" y="2934514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评估复盘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1" name="文本框 140"/>
          <p:cNvSpPr txBox="1"/>
          <p:nvPr/>
        </p:nvSpPr>
        <p:spPr>
          <a:xfrm>
            <a:off x="4870450" y="2970019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建议增投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2" name="文本框 141"/>
          <p:cNvSpPr txBox="1"/>
          <p:nvPr/>
        </p:nvSpPr>
        <p:spPr>
          <a:xfrm>
            <a:off x="6310103" y="5227823"/>
            <a:ext cx="10148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</a:t>
            </a:r>
            <a:r>
              <a:rPr lang="en-US" altLang="zh-CN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lang="zh-CN" altLang="en-US" sz="700" dirty="0"/>
          </a:p>
        </p:txBody>
      </p:sp>
      <p:sp>
        <p:nvSpPr>
          <p:cNvPr id="143" name="文本框 142"/>
          <p:cNvSpPr txBox="1"/>
          <p:nvPr/>
        </p:nvSpPr>
        <p:spPr>
          <a:xfrm>
            <a:off x="427355" y="3015292"/>
            <a:ext cx="1014824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人</a:t>
            </a:r>
            <a:r>
              <a:rPr lang="en-US" altLang="zh-CN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7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端口</a:t>
            </a:r>
            <a:endParaRPr lang="zh-CN" altLang="en-US" sz="700" dirty="0"/>
          </a:p>
        </p:txBody>
      </p:sp>
      <p:sp>
        <p:nvSpPr>
          <p:cNvPr id="144" name="矩形 143"/>
          <p:cNvSpPr/>
          <p:nvPr/>
        </p:nvSpPr>
        <p:spPr>
          <a:xfrm>
            <a:off x="1035684" y="4484493"/>
            <a:ext cx="1701885" cy="787173"/>
          </a:xfrm>
          <a:prstGeom prst="rect">
            <a:avLst/>
          </a:prstGeom>
          <a:solidFill>
            <a:srgbClr val="C00000">
              <a:alpha val="3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45" name="文本框 144"/>
          <p:cNvSpPr txBox="1"/>
          <p:nvPr/>
        </p:nvSpPr>
        <p:spPr>
          <a:xfrm>
            <a:off x="2838535" y="2948069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正常区间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6" name="文本框 145"/>
          <p:cNvSpPr txBox="1"/>
          <p:nvPr/>
        </p:nvSpPr>
        <p:spPr>
          <a:xfrm>
            <a:off x="3005455" y="5320154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用电水平</a:t>
            </a:r>
            <a:endParaRPr lang="zh-CN" altLang="en-US" sz="100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sp>
        <p:nvSpPr>
          <p:cNvPr id="147" name="文本框 146"/>
          <p:cNvSpPr txBox="1"/>
          <p:nvPr/>
        </p:nvSpPr>
        <p:spPr>
          <a:xfrm>
            <a:off x="5236389" y="3403167"/>
            <a:ext cx="1072802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北城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8" name="文本框 147"/>
          <p:cNvSpPr txBox="1"/>
          <p:nvPr/>
        </p:nvSpPr>
        <p:spPr>
          <a:xfrm>
            <a:off x="3604964" y="4685667"/>
            <a:ext cx="972417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罗源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49" name="文本框 148"/>
          <p:cNvSpPr txBox="1"/>
          <p:nvPr/>
        </p:nvSpPr>
        <p:spPr>
          <a:xfrm>
            <a:off x="3396383" y="3416338"/>
            <a:ext cx="972417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长沙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0" name="文本框 149"/>
          <p:cNvSpPr txBox="1"/>
          <p:nvPr/>
        </p:nvSpPr>
        <p:spPr>
          <a:xfrm>
            <a:off x="1518632" y="4075921"/>
            <a:ext cx="972417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昆明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1" name="文本框 150"/>
          <p:cNvSpPr txBox="1"/>
          <p:nvPr/>
        </p:nvSpPr>
        <p:spPr>
          <a:xfrm>
            <a:off x="2273741" y="3960309"/>
            <a:ext cx="799307" cy="2462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贵阳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2" name="文本框 151"/>
          <p:cNvSpPr txBox="1"/>
          <p:nvPr/>
        </p:nvSpPr>
        <p:spPr>
          <a:xfrm>
            <a:off x="4199594" y="3935894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宁波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3" name="文本框 152"/>
          <p:cNvSpPr txBox="1"/>
          <p:nvPr/>
        </p:nvSpPr>
        <p:spPr>
          <a:xfrm>
            <a:off x="1451771" y="4685667"/>
            <a:ext cx="75057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滨湖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4" name="文本框 153"/>
          <p:cNvSpPr txBox="1"/>
          <p:nvPr/>
        </p:nvSpPr>
        <p:spPr>
          <a:xfrm>
            <a:off x="1790311" y="4704839"/>
            <a:ext cx="1363345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阜阳 </a:t>
            </a:r>
            <a:endParaRPr lang="en-US" altLang="zh-CN" sz="1000" b="1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4528235" y="4484493"/>
            <a:ext cx="1701885" cy="776603"/>
          </a:xfrm>
          <a:prstGeom prst="rect">
            <a:avLst/>
          </a:prstGeom>
          <a:solidFill>
            <a:srgbClr val="FFFF00">
              <a:alpha val="32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156" name="文本框 155"/>
          <p:cNvSpPr txBox="1"/>
          <p:nvPr/>
        </p:nvSpPr>
        <p:spPr>
          <a:xfrm>
            <a:off x="568325" y="5597525"/>
            <a:ext cx="6109970" cy="10610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>
            <a:defPPr>
              <a:defRPr lang="zh-CN"/>
            </a:defPPr>
            <a:lvl1pPr marL="228600" indent="-228600">
              <a:lnSpc>
                <a:spcPct val="200000"/>
              </a:lnSpc>
              <a:buAutoNum type="arabicPeriod"/>
              <a:defRPr sz="10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b="1" dirty="0"/>
              <a:t>运营正常：</a:t>
            </a:r>
            <a:r>
              <a:rPr lang="zh-CN" altLang="en-US" dirty="0"/>
              <a:t>长沙、罗源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增设空间：</a:t>
            </a:r>
            <a:r>
              <a:rPr lang="zh-CN" altLang="en-US" dirty="0"/>
              <a:t>北城、宁波</a:t>
            </a:r>
          </a:p>
          <a:p>
            <a:pPr>
              <a:lnSpc>
                <a:spcPct val="150000"/>
              </a:lnSpc>
            </a:pPr>
            <a:r>
              <a:rPr lang="zh-CN" altLang="en-US" b="1" dirty="0"/>
              <a:t>关闭需求，运营复盘</a:t>
            </a:r>
            <a:r>
              <a:rPr lang="zh-CN" altLang="en-US" dirty="0"/>
              <a:t>：贵阳、昆明、阜阳、滨湖</a:t>
            </a:r>
            <a:endParaRPr lang="en-US" altLang="zh-CN" dirty="0"/>
          </a:p>
          <a:p>
            <a:pPr>
              <a:lnSpc>
                <a:spcPct val="150000"/>
              </a:lnSpc>
            </a:pPr>
            <a:r>
              <a:rPr lang="zh-CN" altLang="en-US" b="1" dirty="0"/>
              <a:t>业务提示</a:t>
            </a:r>
            <a:r>
              <a:rPr lang="zh-CN" altLang="en-US" dirty="0"/>
              <a:t>：北城、昆明、阜阳联营充电桩账务流转需调整</a:t>
            </a:r>
          </a:p>
        </p:txBody>
      </p:sp>
      <p:graphicFrame>
        <p:nvGraphicFramePr>
          <p:cNvPr id="157" name="图表 156" descr="7b0a202020202263686172745265734964223a20223230343736323135220a7d0a"/>
          <p:cNvGraphicFramePr/>
          <p:nvPr/>
        </p:nvGraphicFramePr>
        <p:xfrm>
          <a:off x="305435" y="2453764"/>
          <a:ext cx="6304915" cy="318897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58" name="文本框 157"/>
          <p:cNvSpPr txBox="1"/>
          <p:nvPr/>
        </p:nvSpPr>
        <p:spPr>
          <a:xfrm>
            <a:off x="380365" y="3732019"/>
            <a:ext cx="330835" cy="70788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0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覆盖人数</a:t>
            </a:r>
          </a:p>
        </p:txBody>
      </p:sp>
      <p:sp>
        <p:nvSpPr>
          <p:cNvPr id="159" name="文本框 158"/>
          <p:cNvSpPr txBox="1"/>
          <p:nvPr/>
        </p:nvSpPr>
        <p:spPr>
          <a:xfrm>
            <a:off x="582295" y="2212340"/>
            <a:ext cx="609600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400" b="1">
                <a:latin typeface="+mj-ea"/>
                <a:ea typeface="+mj-ea"/>
              </a:rPr>
              <a:t>充电桩经营分析</a:t>
            </a:r>
          </a:p>
        </p:txBody>
      </p:sp>
      <p:graphicFrame>
        <p:nvGraphicFramePr>
          <p:cNvPr id="160" name="表格 159"/>
          <p:cNvGraphicFramePr>
            <a:graphicFrameLocks noGrp="1"/>
          </p:cNvGraphicFramePr>
          <p:nvPr>
            <p:custDataLst>
              <p:tags r:id="rId7"/>
            </p:custDataLst>
          </p:nvPr>
        </p:nvGraphicFramePr>
        <p:xfrm>
          <a:off x="2273935" y="2453005"/>
          <a:ext cx="1330960" cy="393065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1330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15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端口 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 </a:t>
                      </a:r>
                    </a:p>
                    <a:p>
                      <a:pPr marL="0" algn="ctr" defTabSz="914400" rtl="0" eaLnBrk="1" latinLnBrk="0" hangingPunct="1"/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每日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4~7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小时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正常使用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1" name="表格 160"/>
          <p:cNvGraphicFramePr>
            <a:graphicFrameLocks noGrp="1"/>
          </p:cNvGraphicFramePr>
          <p:nvPr>
            <p:custDataLst>
              <p:tags r:id="rId8"/>
            </p:custDataLst>
          </p:nvPr>
        </p:nvGraphicFramePr>
        <p:xfrm>
          <a:off x="4022725" y="2405380"/>
          <a:ext cx="1408430" cy="48387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14084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8387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30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元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/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端口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 </a:t>
                      </a:r>
                    </a:p>
                    <a:p>
                      <a:pPr marL="0" algn="ctr" defTabSz="914400" rtl="0" eaLnBrk="1" latinLnBrk="0" hangingPunct="1"/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每日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8~14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小时</a:t>
                      </a:r>
                      <a:r>
                        <a:rPr lang="en-US" altLang="zh-CN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 </a:t>
                      </a:r>
                      <a:r>
                        <a:rPr lang="zh-CN" altLang="en-US" sz="800" b="0" kern="12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满负荷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" name="表格 161"/>
          <p:cNvGraphicFramePr>
            <a:graphicFrameLocks noGrp="1"/>
          </p:cNvGraphicFramePr>
          <p:nvPr>
            <p:custDataLst>
              <p:tags r:id="rId9"/>
            </p:custDataLst>
          </p:nvPr>
        </p:nvGraphicFramePr>
        <p:xfrm>
          <a:off x="6254115" y="4319270"/>
          <a:ext cx="944245" cy="335280"/>
        </p:xfrm>
        <a:graphic>
          <a:graphicData uri="http://schemas.openxmlformats.org/drawingml/2006/table">
            <a:tbl>
              <a:tblPr firstRow="1">
                <a:tableStyleId>{D27102A9-8310-4765-A935-A1911B00CA55}</a:tableStyleId>
              </a:tblPr>
              <a:tblGrid>
                <a:gridCol w="944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altLang="zh-CN" sz="800" b="0" dirty="0"/>
                        <a:t>9</a:t>
                      </a:r>
                      <a:r>
                        <a:rPr lang="zh-CN" altLang="en-US" sz="800" b="0" dirty="0"/>
                        <a:t>人</a:t>
                      </a:r>
                      <a:r>
                        <a:rPr lang="en-US" altLang="zh-CN" sz="800" b="0" dirty="0"/>
                        <a:t>/</a:t>
                      </a:r>
                      <a:r>
                        <a:rPr lang="zh-CN" altLang="en-US" sz="800" b="0" dirty="0"/>
                        <a:t>端口</a:t>
                      </a:r>
                      <a:r>
                        <a:rPr lang="en-US" altLang="zh-CN" sz="800" b="0" dirty="0"/>
                        <a:t> </a:t>
                      </a:r>
                    </a:p>
                    <a:p>
                      <a:pPr algn="l"/>
                      <a:r>
                        <a:rPr lang="en-US" altLang="zh-CN" sz="800" b="0" dirty="0"/>
                        <a:t>  </a:t>
                      </a:r>
                      <a:r>
                        <a:rPr lang="zh-CN" altLang="en-US" sz="800" b="0" dirty="0"/>
                        <a:t>平均值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6" name="图表 5"/>
          <p:cNvGraphicFramePr/>
          <p:nvPr>
            <p:custDataLst>
              <p:tags r:id="rId10"/>
            </p:custDataLst>
          </p:nvPr>
        </p:nvGraphicFramePr>
        <p:xfrm>
          <a:off x="7151370" y="1526370"/>
          <a:ext cx="4603115" cy="1876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入户维修满意度</a:t>
            </a:r>
          </a:p>
        </p:txBody>
      </p:sp>
      <p:graphicFrame>
        <p:nvGraphicFramePr>
          <p:cNvPr id="63" name="表格 62"/>
          <p:cNvGraphicFramePr/>
          <p:nvPr>
            <p:custDataLst>
              <p:tags r:id="rId3"/>
            </p:custDataLst>
          </p:nvPr>
        </p:nvGraphicFramePr>
        <p:xfrm>
          <a:off x="561975" y="1925955"/>
          <a:ext cx="6229350" cy="3527425"/>
        </p:xfrm>
        <a:graphic>
          <a:graphicData uri="http://schemas.openxmlformats.org/drawingml/2006/table">
            <a:tbl>
              <a:tblPr/>
              <a:tblGrid>
                <a:gridCol w="497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91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765">
                <a:tc>
                  <a:txBody>
                    <a:bodyPr/>
                    <a:lstStyle/>
                    <a:p>
                      <a:pPr algn="ctr"/>
                      <a:endParaRPr lang="zh-CN" altLang="en-US" sz="700" b="1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满意度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7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</a:t>
                      </a:r>
                      <a:r>
                        <a:rPr lang="en-US" altLang="zh-CN" sz="700" b="1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(%)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zh-CN" altLang="en-US" sz="700" b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及时响应率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algn="ctr" fontAlgn="ctr"/>
                      <a:endParaRPr lang="en-US" altLang="zh-CN" sz="800" b="0" i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98.5%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87.6%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50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99.0%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93.0%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98.0%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85.2%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97.8%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96.7%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97.7%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77.9%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97.3%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-0.2%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83.8%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97.3%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97.1%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177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0.6%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3045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-0.9%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 dirty="0">
                          <a:solidFill>
                            <a:srgbClr val="C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76.8%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96.0%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0.3%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97.7%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114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800" b="0" i="0" kern="120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800" b="0" i="0" kern="120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</a:rPr>
                        <a:t>97.5%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1" i="0">
                          <a:solidFill>
                            <a:srgbClr val="007F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8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86.4%</a:t>
                      </a:r>
                    </a:p>
                  </a:txBody>
                  <a:tcPr marL="9842" marR="9842" marT="984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64" name="图表 63" descr="7b0a202020202263686172745265734964223a20223230343736323135220a7d0a"/>
          <p:cNvGraphicFramePr/>
          <p:nvPr/>
        </p:nvGraphicFramePr>
        <p:xfrm>
          <a:off x="7348855" y="1591310"/>
          <a:ext cx="4528820" cy="37630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cxnSp>
        <p:nvCxnSpPr>
          <p:cNvPr id="66" name="直接连接符 65"/>
          <p:cNvCxnSpPr/>
          <p:nvPr/>
        </p:nvCxnSpPr>
        <p:spPr>
          <a:xfrm>
            <a:off x="9869805" y="2150745"/>
            <a:ext cx="0" cy="261112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" name="文本框 21"/>
          <p:cNvSpPr txBox="1"/>
          <p:nvPr>
            <p:custDataLst>
              <p:tags r:id="rId4"/>
            </p:custDataLst>
          </p:nvPr>
        </p:nvSpPr>
        <p:spPr>
          <a:xfrm flipH="1">
            <a:off x="9469755" y="2622550"/>
            <a:ext cx="47498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阜阳</a:t>
            </a:r>
          </a:p>
        </p:txBody>
      </p:sp>
      <p:sp>
        <p:nvSpPr>
          <p:cNvPr id="68" name="文本框 21"/>
          <p:cNvSpPr txBox="1"/>
          <p:nvPr>
            <p:custDataLst>
              <p:tags r:id="rId5"/>
            </p:custDataLst>
          </p:nvPr>
        </p:nvSpPr>
        <p:spPr>
          <a:xfrm flipH="1">
            <a:off x="9119870" y="3143885"/>
            <a:ext cx="47498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北城</a:t>
            </a:r>
          </a:p>
        </p:txBody>
      </p:sp>
      <p:sp>
        <p:nvSpPr>
          <p:cNvPr id="69" name="文本框 2"/>
          <p:cNvSpPr txBox="1"/>
          <p:nvPr>
            <p:custDataLst>
              <p:tags r:id="rId6"/>
            </p:custDataLst>
          </p:nvPr>
        </p:nvSpPr>
        <p:spPr bwMode="auto">
          <a:xfrm>
            <a:off x="530860" y="5553075"/>
            <a:ext cx="6318885" cy="772160"/>
          </a:xfrm>
          <a:prstGeom prst="rect">
            <a:avLst/>
          </a:prstGeom>
          <a:noFill/>
          <a:ln>
            <a:noFill/>
          </a:ln>
        </p:spPr>
        <p:txBody>
          <a:bodyPr wrap="square" lIns="91445" tIns="45722" rIns="91445" bIns="45722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 fontAlgn="auto">
              <a:lnSpc>
                <a:spcPct val="200000"/>
              </a:lnSpc>
              <a:spcAft>
                <a:spcPts val="500"/>
              </a:spcAft>
              <a:buFont typeface="Wingdings" panose="05000000000000000000" charset="0"/>
              <a:buAutoNum type="arabicPeriod"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集团入户维修满意度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97.5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%，同比</a:t>
            </a:r>
            <a:r>
              <a: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↑0.4%，8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家公司超集团均值，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95000"/>
                    <a:lumOff val="5000"/>
                  </a:srgb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家公司超</a:t>
            </a:r>
            <a:r>
              <a:rPr lang="en-US" altLang="zh-CN" sz="100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95%</a:t>
            </a:r>
            <a:r>
              <a:rPr lang="zh-CN" altLang="en-US" sz="1000" dirty="0">
                <a:solidFill>
                  <a:srgbClr val="000000">
                    <a:lumMod val="95000"/>
                    <a:lumOff val="5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（底线值）</a:t>
            </a:r>
            <a:endParaRPr lang="zh-CN" altLang="zh-CN" sz="10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  <a:p>
            <a:pPr marL="228600" marR="0" lvl="0" indent="-228600" algn="just" defTabSz="914400" rtl="0" fontAlgn="auto">
              <a:lnSpc>
                <a:spcPct val="2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Wingdings" panose="05000000000000000000" charset="0"/>
              <a:buAutoNum type="arabicPeriod"/>
            </a:pP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 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长沙、滨湖、版纳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响应及时率低于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80%</a:t>
            </a:r>
          </a:p>
        </p:txBody>
      </p:sp>
      <p:sp>
        <p:nvSpPr>
          <p:cNvPr id="70" name="文本框 69"/>
          <p:cNvSpPr txBox="1"/>
          <p:nvPr>
            <p:custDataLst>
              <p:tags r:id="rId7"/>
            </p:custDataLst>
          </p:nvPr>
        </p:nvSpPr>
        <p:spPr bwMode="auto">
          <a:xfrm>
            <a:off x="7482205" y="5480050"/>
            <a:ext cx="4528820" cy="894080"/>
          </a:xfrm>
          <a:prstGeom prst="rect">
            <a:avLst/>
          </a:prstGeom>
          <a:noFill/>
          <a:ln>
            <a:noFill/>
          </a:ln>
        </p:spPr>
        <p:txBody>
          <a:bodyPr wrap="square" lIns="91445" tIns="45722" rIns="91445" bIns="45722" rtlCol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 fontAlgn="auto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业务良性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：北京、贵阳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just" fontAlgn="auto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业务提升：北城、阜阳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just" fontAlgn="auto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质量提升：宁波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just" fontAlgn="auto"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重点复盘：长沙、滨湖</a:t>
            </a:r>
            <a:endParaRPr lang="en-US" altLang="zh-CN" sz="1000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  <a:p>
            <a:pPr marL="228600" indent="-228600" algn="just" fontAlgn="auto">
              <a:lnSpc>
                <a:spcPct val="150000"/>
              </a:lnSpc>
              <a:spcAft>
                <a:spcPts val="500"/>
              </a:spcAft>
              <a:buFont typeface="Wingdings" panose="05000000000000000000" charset="0"/>
              <a:buAutoNum type="arabicPeriod"/>
            </a:pPr>
            <a:endParaRPr kumimoji="0" lang="zh-CN" altLang="en-US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graphicFrame>
        <p:nvGraphicFramePr>
          <p:cNvPr id="71" name="图表 27" descr="7b0a202020202263686172745265734964223a20223230343736313638220a7d0a"/>
          <p:cNvGraphicFramePr/>
          <p:nvPr>
            <p:custDataLst>
              <p:tags r:id="rId8"/>
            </p:custDataLst>
          </p:nvPr>
        </p:nvGraphicFramePr>
        <p:xfrm>
          <a:off x="285750" y="1550035"/>
          <a:ext cx="6668770" cy="4219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72" name="直接连接符 71"/>
          <p:cNvCxnSpPr/>
          <p:nvPr/>
        </p:nvCxnSpPr>
        <p:spPr>
          <a:xfrm>
            <a:off x="4434840" y="2180590"/>
            <a:ext cx="0" cy="32188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73" name="直接连接符 72"/>
          <p:cNvCxnSpPr/>
          <p:nvPr/>
        </p:nvCxnSpPr>
        <p:spPr>
          <a:xfrm>
            <a:off x="2075815" y="2085975"/>
            <a:ext cx="5486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4" name="文本框 21"/>
          <p:cNvSpPr txBox="1"/>
          <p:nvPr>
            <p:custDataLst>
              <p:tags r:id="rId9"/>
            </p:custDataLst>
          </p:nvPr>
        </p:nvSpPr>
        <p:spPr>
          <a:xfrm flipH="1">
            <a:off x="2587625" y="1956435"/>
            <a:ext cx="1332230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97.48% 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集团均值</a:t>
            </a:r>
            <a:endParaRPr lang="en-US" sz="7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75" name="直接连接符 74"/>
          <p:cNvCxnSpPr/>
          <p:nvPr/>
        </p:nvCxnSpPr>
        <p:spPr>
          <a:xfrm>
            <a:off x="596900" y="2085975"/>
            <a:ext cx="5486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6" name="文本框 21"/>
          <p:cNvSpPr txBox="1"/>
          <p:nvPr>
            <p:custDataLst>
              <p:tags r:id="rId10"/>
            </p:custDataLst>
          </p:nvPr>
        </p:nvSpPr>
        <p:spPr>
          <a:xfrm flipH="1">
            <a:off x="1094740" y="1956435"/>
            <a:ext cx="817880" cy="238760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95% 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底线</a:t>
            </a:r>
          </a:p>
        </p:txBody>
      </p:sp>
      <p:cxnSp>
        <p:nvCxnSpPr>
          <p:cNvPr id="77" name="直接连接符 0"/>
          <p:cNvCxnSpPr/>
          <p:nvPr/>
        </p:nvCxnSpPr>
        <p:spPr>
          <a:xfrm>
            <a:off x="3674745" y="2181225"/>
            <a:ext cx="0" cy="32188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8" name="矩形 77"/>
          <p:cNvSpPr/>
          <p:nvPr/>
        </p:nvSpPr>
        <p:spPr>
          <a:xfrm>
            <a:off x="7879715" y="3546475"/>
            <a:ext cx="3803650" cy="1212850"/>
          </a:xfrm>
          <a:prstGeom prst="rect">
            <a:avLst/>
          </a:prstGeom>
          <a:solidFill>
            <a:srgbClr val="C03532">
              <a:alpha val="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cxnSp>
        <p:nvCxnSpPr>
          <p:cNvPr id="79" name="直接连接符 78"/>
          <p:cNvCxnSpPr/>
          <p:nvPr/>
        </p:nvCxnSpPr>
        <p:spPr>
          <a:xfrm>
            <a:off x="7914640" y="3557905"/>
            <a:ext cx="376428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2">
                <a:lumMod val="9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0" name="文本框 21"/>
          <p:cNvSpPr txBox="1"/>
          <p:nvPr>
            <p:custDataLst>
              <p:tags r:id="rId11"/>
            </p:custDataLst>
          </p:nvPr>
        </p:nvSpPr>
        <p:spPr>
          <a:xfrm flipH="1">
            <a:off x="10106025" y="4530725"/>
            <a:ext cx="1659255" cy="22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质量提升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（低满意度</a:t>
            </a:r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高时效）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1" name="文本框 21"/>
          <p:cNvSpPr txBox="1"/>
          <p:nvPr>
            <p:custDataLst>
              <p:tags r:id="rId12"/>
            </p:custDataLst>
          </p:nvPr>
        </p:nvSpPr>
        <p:spPr>
          <a:xfrm flipH="1">
            <a:off x="7904480" y="4512945"/>
            <a:ext cx="189103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重点复盘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（低满意度</a:t>
            </a:r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低时效）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文本框 21"/>
          <p:cNvSpPr txBox="1"/>
          <p:nvPr>
            <p:custDataLst>
              <p:tags r:id="rId13"/>
            </p:custDataLst>
          </p:nvPr>
        </p:nvSpPr>
        <p:spPr>
          <a:xfrm flipH="1">
            <a:off x="8212455" y="3652520"/>
            <a:ext cx="47498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长沙</a:t>
            </a:r>
          </a:p>
        </p:txBody>
      </p:sp>
      <p:sp>
        <p:nvSpPr>
          <p:cNvPr id="83" name="文本框 21"/>
          <p:cNvSpPr txBox="1"/>
          <p:nvPr>
            <p:custDataLst>
              <p:tags r:id="rId14"/>
            </p:custDataLst>
          </p:nvPr>
        </p:nvSpPr>
        <p:spPr>
          <a:xfrm flipH="1">
            <a:off x="8339455" y="3919855"/>
            <a:ext cx="47498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滨湖</a:t>
            </a:r>
          </a:p>
        </p:txBody>
      </p:sp>
      <p:sp>
        <p:nvSpPr>
          <p:cNvPr id="84" name="文本框 21"/>
          <p:cNvSpPr txBox="1"/>
          <p:nvPr>
            <p:custDataLst>
              <p:tags r:id="rId15"/>
            </p:custDataLst>
          </p:nvPr>
        </p:nvSpPr>
        <p:spPr>
          <a:xfrm flipH="1">
            <a:off x="11036935" y="4150995"/>
            <a:ext cx="55245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宁波</a:t>
            </a:r>
          </a:p>
        </p:txBody>
      </p:sp>
      <p:sp>
        <p:nvSpPr>
          <p:cNvPr id="85" name="文本框 21"/>
          <p:cNvSpPr txBox="1"/>
          <p:nvPr>
            <p:custDataLst>
              <p:tags r:id="rId16"/>
            </p:custDataLst>
          </p:nvPr>
        </p:nvSpPr>
        <p:spPr>
          <a:xfrm flipH="1">
            <a:off x="9504680" y="4748890"/>
            <a:ext cx="1202690" cy="2133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均值</a:t>
            </a:r>
            <a:r>
              <a:rPr lang="en-US" altLang="zh-CN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86.44%</a:t>
            </a:r>
          </a:p>
        </p:txBody>
      </p:sp>
      <p:sp>
        <p:nvSpPr>
          <p:cNvPr id="86" name="矩形 85"/>
          <p:cNvSpPr/>
          <p:nvPr/>
        </p:nvSpPr>
        <p:spPr>
          <a:xfrm>
            <a:off x="7880350" y="2143125"/>
            <a:ext cx="3803650" cy="1402715"/>
          </a:xfrm>
          <a:prstGeom prst="rect">
            <a:avLst/>
          </a:prstGeom>
          <a:solidFill>
            <a:srgbClr val="007F00">
              <a:alpha val="9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宋体" panose="02010600030101010101" pitchFamily="2" charset="-122"/>
            </a:endParaRPr>
          </a:p>
        </p:txBody>
      </p:sp>
      <p:sp>
        <p:nvSpPr>
          <p:cNvPr id="87" name="文本框 21"/>
          <p:cNvSpPr txBox="1"/>
          <p:nvPr>
            <p:custDataLst>
              <p:tags r:id="rId17"/>
            </p:custDataLst>
          </p:nvPr>
        </p:nvSpPr>
        <p:spPr>
          <a:xfrm flipH="1">
            <a:off x="9777730" y="2823845"/>
            <a:ext cx="47498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北京</a:t>
            </a:r>
          </a:p>
        </p:txBody>
      </p:sp>
      <p:sp>
        <p:nvSpPr>
          <p:cNvPr id="88" name="文本框 21"/>
          <p:cNvSpPr txBox="1"/>
          <p:nvPr>
            <p:custDataLst>
              <p:tags r:id="rId18"/>
            </p:custDataLst>
          </p:nvPr>
        </p:nvSpPr>
        <p:spPr>
          <a:xfrm flipH="1">
            <a:off x="10868025" y="2964815"/>
            <a:ext cx="55245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贵阳</a:t>
            </a:r>
          </a:p>
        </p:txBody>
      </p:sp>
      <p:cxnSp>
        <p:nvCxnSpPr>
          <p:cNvPr id="89" name="直接连接符 88"/>
          <p:cNvCxnSpPr/>
          <p:nvPr/>
        </p:nvCxnSpPr>
        <p:spPr>
          <a:xfrm>
            <a:off x="7091680" y="1710690"/>
            <a:ext cx="0" cy="4735195"/>
          </a:xfrm>
          <a:prstGeom prst="line">
            <a:avLst/>
          </a:prstGeom>
          <a:ln w="9525" cap="flat" cmpd="sng" algn="ctr">
            <a:solidFill>
              <a:schemeClr val="accent1">
                <a:lumMod val="40000"/>
                <a:lumOff val="60000"/>
              </a:schemeClr>
            </a:solidFill>
            <a:prstDash val="solid"/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0" name="文本框 21"/>
          <p:cNvSpPr txBox="1"/>
          <p:nvPr>
            <p:custDataLst>
              <p:tags r:id="rId19"/>
            </p:custDataLst>
          </p:nvPr>
        </p:nvSpPr>
        <p:spPr>
          <a:xfrm flipH="1">
            <a:off x="7360170" y="3375025"/>
            <a:ext cx="1062990" cy="33591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均值</a:t>
            </a:r>
          </a:p>
          <a:p>
            <a:pPr algn="ctr">
              <a:lnSpc>
                <a:spcPct val="114000"/>
              </a:lnSpc>
            </a:pPr>
            <a:r>
              <a:rPr lang="en-US" altLang="zh-CN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97.48%</a:t>
            </a:r>
          </a:p>
        </p:txBody>
      </p:sp>
      <p:sp>
        <p:nvSpPr>
          <p:cNvPr id="91" name="文本框 21"/>
          <p:cNvSpPr txBox="1"/>
          <p:nvPr>
            <p:custDataLst>
              <p:tags r:id="rId20"/>
            </p:custDataLst>
          </p:nvPr>
        </p:nvSpPr>
        <p:spPr>
          <a:xfrm flipH="1">
            <a:off x="7952105" y="2154555"/>
            <a:ext cx="1906270" cy="23114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业务提升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（高满意度</a:t>
            </a:r>
            <a:r>
              <a:rPr lang="en-US" altLang="zh-CN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低时效）</a:t>
            </a:r>
          </a:p>
        </p:txBody>
      </p:sp>
      <p:sp>
        <p:nvSpPr>
          <p:cNvPr id="92" name="文本框 21"/>
          <p:cNvSpPr txBox="1"/>
          <p:nvPr>
            <p:custDataLst>
              <p:tags r:id="rId21"/>
            </p:custDataLst>
          </p:nvPr>
        </p:nvSpPr>
        <p:spPr>
          <a:xfrm flipH="1">
            <a:off x="10010775" y="2143125"/>
            <a:ext cx="1946275" cy="22204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zh-CN" altLang="en-US" sz="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业务良性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（高满意度</a:t>
            </a:r>
            <a:r>
              <a:rPr lang="en-US" altLang="zh-CN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zh-CN" altLang="en-US" sz="8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高时效）</a:t>
            </a:r>
            <a:endParaRPr lang="zh-CN" altLang="en-US" sz="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3" name="文本框 21"/>
          <p:cNvSpPr txBox="1"/>
          <p:nvPr>
            <p:custDataLst>
              <p:tags r:id="rId22"/>
            </p:custDataLst>
          </p:nvPr>
        </p:nvSpPr>
        <p:spPr>
          <a:xfrm flipH="1">
            <a:off x="9194165" y="4899054"/>
            <a:ext cx="1202690" cy="2544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及时响应率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4" name="文本框 21"/>
          <p:cNvSpPr txBox="1"/>
          <p:nvPr>
            <p:custDataLst>
              <p:tags r:id="rId23"/>
            </p:custDataLst>
          </p:nvPr>
        </p:nvSpPr>
        <p:spPr>
          <a:xfrm flipH="1">
            <a:off x="7376161" y="3153658"/>
            <a:ext cx="425450" cy="605294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14000"/>
              </a:lnSpc>
            </a:pPr>
            <a:r>
              <a:rPr lang="zh-CN" altLang="en-US" sz="10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满意度</a:t>
            </a:r>
            <a:endParaRPr lang="en-US" altLang="zh-CN" sz="10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5" name="圆角矩形 94"/>
          <p:cNvSpPr/>
          <p:nvPr>
            <p:custDataLst>
              <p:tags r:id="rId24"/>
            </p:custDataLst>
          </p:nvPr>
        </p:nvSpPr>
        <p:spPr>
          <a:xfrm>
            <a:off x="553085" y="4571365"/>
            <a:ext cx="288290" cy="160655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圆角矩形 95"/>
          <p:cNvSpPr/>
          <p:nvPr>
            <p:custDataLst>
              <p:tags r:id="rId25"/>
            </p:custDataLst>
          </p:nvPr>
        </p:nvSpPr>
        <p:spPr>
          <a:xfrm>
            <a:off x="552450" y="4792980"/>
            <a:ext cx="288290" cy="160655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圆角矩形 96"/>
          <p:cNvSpPr/>
          <p:nvPr>
            <p:custDataLst>
              <p:tags r:id="rId26"/>
            </p:custDataLst>
          </p:nvPr>
        </p:nvSpPr>
        <p:spPr>
          <a:xfrm>
            <a:off x="551815" y="3877945"/>
            <a:ext cx="288290" cy="160655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9" name="矩形 11"/>
          <p:cNvSpPr/>
          <p:nvPr>
            <p:custDataLst>
              <p:tags r:id="rId1"/>
            </p:custDataLst>
          </p:nvPr>
        </p:nvSpPr>
        <p:spPr>
          <a:xfrm>
            <a:off x="719455" y="259080"/>
            <a:ext cx="6054090" cy="706755"/>
          </a:xfrm>
          <a:prstGeom prst="rect">
            <a:avLst/>
          </a:prstGeom>
        </p:spPr>
        <p:txBody>
          <a:bodyPr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eaLnBrk="1" hangingPunct="1">
              <a:lnSpc>
                <a:spcPct val="125000"/>
              </a:lnSpc>
            </a:pPr>
            <a:r>
              <a:rPr lang="zh-CN" altLang="en-US" sz="3200" b="1" dirty="0">
                <a:solidFill>
                  <a:srgbClr val="005D9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运营回顾</a:t>
            </a:r>
          </a:p>
        </p:txBody>
      </p:sp>
      <p:sp>
        <p:nvSpPr>
          <p:cNvPr id="1048680" name="文本框 21"/>
          <p:cNvSpPr txBox="1"/>
          <p:nvPr>
            <p:custDataLst>
              <p:tags r:id="rId2"/>
            </p:custDataLst>
          </p:nvPr>
        </p:nvSpPr>
        <p:spPr>
          <a:xfrm flipH="1">
            <a:off x="2606040" y="523875"/>
            <a:ext cx="6320155" cy="4419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altLang="zh-CN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——</a:t>
            </a:r>
            <a:r>
              <a:rPr lang="zh-CN" altLang="en-US" sz="20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投诉管理</a:t>
            </a:r>
          </a:p>
        </p:txBody>
      </p:sp>
      <p:sp>
        <p:nvSpPr>
          <p:cNvPr id="27" name="矩形 26"/>
          <p:cNvSpPr/>
          <p:nvPr>
            <p:custDataLst>
              <p:tags r:id="rId3"/>
            </p:custDataLst>
          </p:nvPr>
        </p:nvSpPr>
        <p:spPr>
          <a:xfrm>
            <a:off x="557530" y="5820410"/>
            <a:ext cx="11240135" cy="972185"/>
          </a:xfrm>
          <a:prstGeom prst="rect">
            <a:avLst/>
          </a:prstGeom>
        </p:spPr>
        <p:txBody>
          <a:bodyPr wrap="square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228600" indent="-228600" algn="just" eaLnBrk="1" fontAlgn="auto" latinLnBrk="0" hangingPunct="1">
              <a:lnSpc>
                <a:spcPct val="130000"/>
              </a:lnSpc>
              <a:spcBef>
                <a:spcPts val="800"/>
              </a:spcBef>
              <a:buAutoNum type="arabicPeriod"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25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年度集团投诉率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11.3% 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，同比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1.7%</a:t>
            </a: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；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投诉处理满意度</a:t>
            </a: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70.1%</a:t>
            </a:r>
            <a:r>
              <a:rPr kumimoji="0" lang="zh-CN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，同比</a:t>
            </a:r>
            <a:r>
              <a:rPr lang="zh-CN" altLang="en-US" sz="1000" b="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↑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2.5%</a:t>
            </a:r>
          </a:p>
          <a:p>
            <a:pPr marL="228600" indent="-228600" algn="just" eaLnBrk="1" fontAlgn="auto" latinLnBrk="0" hangingPunct="1">
              <a:lnSpc>
                <a:spcPct val="130000"/>
              </a:lnSpc>
              <a:spcBef>
                <a:spcPts val="800"/>
              </a:spcBef>
              <a:buAutoNum type="arabicPeriod"/>
            </a:pPr>
            <a:r>
              <a:rPr lang="zh-CN" altLang="en-US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投诉率：连江、阜阳、腾冲高于均值且同比上升超</a:t>
            </a:r>
            <a:r>
              <a:rPr lang="en-US" altLang="zh-CN" sz="1000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1%</a:t>
            </a:r>
          </a:p>
          <a:p>
            <a:pPr marL="228600" indent="-228600" algn="just" eaLnBrk="1" fontAlgn="auto" latinLnBrk="0" hangingPunct="1">
              <a:lnSpc>
                <a:spcPct val="130000"/>
              </a:lnSpc>
              <a:spcBef>
                <a:spcPts val="800"/>
              </a:spcBef>
              <a:buAutoNum type="arabicPeriod"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满意度：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版纳、阜阳、罗源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低于行业</a:t>
            </a:r>
            <a:r>
              <a:rPr 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均值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且同比下降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；长沙、贵阳、连江、闽江</a:t>
            </a:r>
            <a:r>
              <a:rPr lang="zh-CN" altLang="en-US" sz="1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同比上升超</a:t>
            </a:r>
            <a:r>
              <a:rPr lang="en-US" altLang="zh-CN" sz="1000" noProof="0" dirty="0">
                <a:ln>
                  <a:noFill/>
                </a:ln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Calibri" panose="020F0502020204030204" pitchFamily="34" charset="0"/>
              </a:rPr>
              <a:t>5%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Calibri" panose="020F0502020204030204" pitchFamily="34" charset="0"/>
            </a:endParaRPr>
          </a:p>
        </p:txBody>
      </p:sp>
      <p:graphicFrame>
        <p:nvGraphicFramePr>
          <p:cNvPr id="28" name="Table 6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557530" y="1623695"/>
          <a:ext cx="10892155" cy="40874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2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499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60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42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9880"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公司</a:t>
                      </a:r>
                    </a:p>
                  </a:txBody>
                  <a:tcPr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投诉率</a:t>
                      </a: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投诉处理满意度</a:t>
                      </a:r>
                    </a:p>
                  </a:txBody>
                  <a:tcPr anchor="ctr">
                    <a:lnB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B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sz="1000" b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</a:rPr>
                        <a:t>同比</a:t>
                      </a:r>
                    </a:p>
                  </a:txBody>
                  <a:tcPr anchor="ctr">
                    <a:lnB w="12700" cap="flat" cmpd="sng" algn="ctr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版纳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0.49%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-1.62%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lnT w="12700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连江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3.57%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00B05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j-ea"/>
                          <a:ea typeface="+mj-ea"/>
                        </a:rPr>
                        <a:t>8.40%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阜阳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2.90%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-2.02%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北京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-0.72%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1.03%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腾冲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C0000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1.40%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4.02%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宁波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0.96%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1.91%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昆明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0.60%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ClrTx/>
                        <a:buSzTx/>
                        <a:buFontTx/>
                      </a:pPr>
                      <a:endParaRPr lang="en-US" altLang="zh-CN"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-1.64%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滨湖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-0.27%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0.87%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长沙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0.03%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00B05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j-ea"/>
                          <a:ea typeface="+mj-ea"/>
                        </a:rPr>
                        <a:t>8.06%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87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罗源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0">
                        <a:solidFill>
                          <a:srgbClr val="009944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0.97%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 dirty="0">
                        <a:solidFill>
                          <a:srgbClr val="666666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Sitka Banner Semibold" charset="0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u="none" strike="noStrike" dirty="0">
                          <a:solidFill>
                            <a:srgbClr val="C00000"/>
                          </a:solidFill>
                          <a:effectLst/>
                          <a:latin typeface="+mj-ea"/>
                          <a:ea typeface="+mj-ea"/>
                        </a:rPr>
                        <a:t>-0.13%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24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北城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-0.05%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-2.21%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贵阳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+mn-ea"/>
                          <a:sym typeface="+mn-ea"/>
                        </a:rPr>
                        <a:t>-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1.10%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AFBF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00B05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j-ea"/>
                          <a:ea typeface="+mj-ea"/>
                        </a:rPr>
                        <a:t>9.05%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AFB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7970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0" i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闽江</a:t>
                      </a:r>
                    </a:p>
                  </a:txBody>
                  <a:tcPr marL="6667" marR="6667" marT="6667" marB="0" anchor="ctr">
                    <a:lnR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C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L w="6350" cmpd="sng">
                      <a:solidFill>
                        <a:schemeClr val="accent1">
                          <a:lumMod val="40000"/>
                          <a:lumOff val="6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kern="120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+0</a:t>
                      </a: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.11%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1">
                        <a:solidFill>
                          <a:srgbClr val="00B05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1" i="0" kern="1200" dirty="0">
                          <a:solidFill>
                            <a:srgbClr val="00B050"/>
                          </a:solidFill>
                          <a:latin typeface="+mj-ea"/>
                          <a:ea typeface="+mn-ea"/>
                          <a:cs typeface="+mn-cs"/>
                        </a:rPr>
                        <a:t>+</a:t>
                      </a:r>
                      <a:r>
                        <a:rPr lang="en-US" altLang="zh-CN" sz="900" b="1" i="0" u="none" strike="noStrike" dirty="0">
                          <a:solidFill>
                            <a:srgbClr val="00B050"/>
                          </a:solidFill>
                          <a:effectLst/>
                          <a:latin typeface="+mj-ea"/>
                          <a:ea typeface="+mj-ea"/>
                        </a:rPr>
                        <a:t>6.91%</a:t>
                      </a:r>
                    </a:p>
                  </a:txBody>
                  <a:tcPr marL="9525" marR="9525" marT="9525" marB="0" anchor="ctr">
                    <a:lnL w="6350" cmpd="sng">
                      <a:solidFill>
                        <a:schemeClr val="bg1"/>
                      </a:solidFill>
                      <a:prstDash val="solid"/>
                    </a:lnL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0510">
                <a:tc>
                  <a:txBody>
                    <a:bodyPr/>
                    <a:lstStyle/>
                    <a:p>
                      <a:pPr algn="ctr"/>
                      <a:r>
                        <a:rPr lang="zh-CN" sz="900" b="0" dirty="0">
                          <a:solidFill>
                            <a:srgbClr val="2D2D2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集团</a:t>
                      </a: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800" b="1">
                        <a:solidFill>
                          <a:srgbClr val="C03532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zh-CN" sz="900" b="0" i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+1.70%</a:t>
                      </a:r>
                    </a:p>
                  </a:txBody>
                  <a:tcPr marL="6667" marR="6667" marT="6667" marB="0"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900" b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anchor="ctr">
                    <a:solidFill>
                      <a:srgbClr val="EBEE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zh-CN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+2.50%</a:t>
                      </a:r>
                    </a:p>
                  </a:txBody>
                  <a:tcPr marL="9525" marR="9525" marT="9525" marB="0" anchor="ctr">
                    <a:solidFill>
                      <a:srgbClr val="EBEE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29" name="Chart 8"/>
          <p:cNvGraphicFramePr>
            <a:graphicFrameLocks noGrp="1"/>
          </p:cNvGraphicFramePr>
          <p:nvPr/>
        </p:nvGraphicFramePr>
        <p:xfrm>
          <a:off x="6170930" y="1802765"/>
          <a:ext cx="3655060" cy="406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graphicFrame>
        <p:nvGraphicFramePr>
          <p:cNvPr id="30" name="Chart 8"/>
          <p:cNvGraphicFramePr>
            <a:graphicFrameLocks noGrp="1"/>
          </p:cNvGraphicFramePr>
          <p:nvPr/>
        </p:nvGraphicFramePr>
        <p:xfrm>
          <a:off x="1466850" y="1771015"/>
          <a:ext cx="2848610" cy="406273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31" name="直接连接符 30"/>
          <p:cNvCxnSpPr/>
          <p:nvPr/>
        </p:nvCxnSpPr>
        <p:spPr>
          <a:xfrm flipV="1">
            <a:off x="8201217" y="1967230"/>
            <a:ext cx="0" cy="372491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连接符 31"/>
          <p:cNvCxnSpPr/>
          <p:nvPr/>
        </p:nvCxnSpPr>
        <p:spPr>
          <a:xfrm>
            <a:off x="6615722" y="1488692"/>
            <a:ext cx="720000" cy="697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dash"/>
            <a:headEnd type="none" w="med" len="med"/>
            <a:tailEnd type="none" w="med" len="med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3" name="文本框 21"/>
          <p:cNvSpPr txBox="1"/>
          <p:nvPr>
            <p:custDataLst>
              <p:tags r:id="rId5"/>
            </p:custDataLst>
          </p:nvPr>
        </p:nvSpPr>
        <p:spPr>
          <a:xfrm flipH="1">
            <a:off x="7369175" y="1385570"/>
            <a:ext cx="838835" cy="2133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65% 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行业均值</a:t>
            </a:r>
            <a:endParaRPr lang="en-US" sz="7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34" name="直接连接符 33"/>
          <p:cNvCxnSpPr/>
          <p:nvPr/>
        </p:nvCxnSpPr>
        <p:spPr>
          <a:xfrm flipV="1">
            <a:off x="2118552" y="1975485"/>
            <a:ext cx="0" cy="372491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5" name="直接连接符 34"/>
          <p:cNvCxnSpPr/>
          <p:nvPr/>
        </p:nvCxnSpPr>
        <p:spPr>
          <a:xfrm>
            <a:off x="1540167" y="1488692"/>
            <a:ext cx="720000" cy="697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>
                <a:lumMod val="50000"/>
                <a:lumOff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" name="文本框 21"/>
          <p:cNvSpPr txBox="1"/>
          <p:nvPr>
            <p:custDataLst>
              <p:tags r:id="rId6"/>
            </p:custDataLst>
          </p:nvPr>
        </p:nvSpPr>
        <p:spPr>
          <a:xfrm flipH="1">
            <a:off x="2293620" y="1385570"/>
            <a:ext cx="838835" cy="21336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14000"/>
              </a:lnSpc>
            </a:pPr>
            <a:r>
              <a:rPr 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11.3% </a:t>
            </a:r>
            <a:r>
              <a:rPr lang="zh-CN" altLang="en-US" sz="7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集团均值</a:t>
            </a:r>
            <a:endParaRPr lang="en-US" sz="7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7" name="圆角矩形 12"/>
          <p:cNvSpPr/>
          <p:nvPr>
            <p:custDataLst>
              <p:tags r:id="rId7"/>
            </p:custDataLst>
          </p:nvPr>
        </p:nvSpPr>
        <p:spPr>
          <a:xfrm>
            <a:off x="844329" y="2245997"/>
            <a:ext cx="342900" cy="191874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圆角矩形 37"/>
          <p:cNvSpPr/>
          <p:nvPr>
            <p:custDataLst>
              <p:tags r:id="rId8"/>
            </p:custDataLst>
          </p:nvPr>
        </p:nvSpPr>
        <p:spPr>
          <a:xfrm>
            <a:off x="844329" y="1992183"/>
            <a:ext cx="342900" cy="191874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12"/>
          <p:cNvSpPr/>
          <p:nvPr>
            <p:custDataLst>
              <p:tags r:id="rId9"/>
            </p:custDataLst>
          </p:nvPr>
        </p:nvSpPr>
        <p:spPr>
          <a:xfrm>
            <a:off x="844329" y="3057526"/>
            <a:ext cx="342900" cy="191874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圆角矩形 12"/>
          <p:cNvSpPr/>
          <p:nvPr>
            <p:custDataLst>
              <p:tags r:id="rId10"/>
            </p:custDataLst>
          </p:nvPr>
        </p:nvSpPr>
        <p:spPr>
          <a:xfrm>
            <a:off x="844329" y="2528039"/>
            <a:ext cx="342900" cy="191874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圆角矩形 12"/>
          <p:cNvSpPr/>
          <p:nvPr>
            <p:custDataLst>
              <p:tags r:id="rId11"/>
            </p:custDataLst>
          </p:nvPr>
        </p:nvSpPr>
        <p:spPr>
          <a:xfrm>
            <a:off x="844329" y="4418118"/>
            <a:ext cx="342900" cy="191874"/>
          </a:xfrm>
          <a:prstGeom prst="round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29&quot;:[50000199],&quot;70&quot;:[3321780,3321502,3321760,3322001,3428073,3318990,3321482,3323870,3321416,3322023,3321532,3319206,342897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0*22"/>
  <p:tag name="TABLE_ENDDRAG_RECT" val="97*416*770*2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6*19"/>
  <p:tag name="TABLE_ENDDRAG_RECT" val="32*377*436*1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8*22"/>
  <p:tag name="TABLE_ENDDRAG_RECT" val="496*377*448*2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72*23"/>
  <p:tag name="TABLE_ENDDRAG_RECT" val="95*415*772*23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36*19"/>
  <p:tag name="TABLE_ENDDRAG_RECT" val="32*377*436*19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448*22"/>
  <p:tag name="TABLE_ENDDRAG_RECT" val="496*377*448*22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43*17"/>
  <p:tag name="TABLE_ENDDRAG_RECT" val="583*310*343*17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351*291"/>
  <p:tag name="TABLE_ENDDRAG_RECT" val="572*160*351*29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04*30"/>
  <p:tag name="TABLE_ENDDRAG_RECT" val="179*183*104*3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10*38"/>
  <p:tag name="TABLE_ENDDRAG_RECT" val="316*176*110*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74*18"/>
  <p:tag name="TABLE_ENDDRAG_RECT" val="475*350*74*18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137*247"/>
  <p:tag name="TABLE_ENDDRAG_RECT" val="401*155*137*247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75.9000787401575,&quot;left&quot;:57.65,&quot;top&quot;:122.85,&quot;width&quot;:867.5000787401575}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75.9000787401575,&quot;left&quot;:57.65,&quot;top&quot;:122.85,&quot;width&quot;:867.5000787401575}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375.9000787401575,&quot;left&quot;:57.65,&quot;top&quot;:122.85,&quot;width&quot;:867.5000787401575}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57*321"/>
  <p:tag name="TABLE_ENDDRAG_RECT" val="43*119*857*32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清风素材 https://12sc.taobao.com">
  <a:themeElements>
    <a:clrScheme name="1_Office 主题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Arial" panose="020B0604020202020204" pitchFamily="34" charset="0"/>
          <a:buNone/>
          <a:defRPr kumimoji="0" lang="zh-CN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anose="020F050202020403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1_Office 主题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5B9BD5"/>
        </a:accent1>
        <a:accent2>
          <a:srgbClr val="ED7D31"/>
        </a:accent2>
        <a:accent3>
          <a:srgbClr val="FFFFFF"/>
        </a:accent3>
        <a:accent4>
          <a:srgbClr val="000000"/>
        </a:accent4>
        <a:accent5>
          <a:srgbClr val="B5CBE7"/>
        </a:accent5>
        <a:accent6>
          <a:srgbClr val="D7712B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44546A"/>
    </a:dk2>
    <a:lt2>
      <a:srgbClr val="E7E6E6"/>
    </a:lt2>
    <a:accent1>
      <a:srgbClr val="FF8D41"/>
    </a:accent1>
    <a:accent2>
      <a:srgbClr val="F7C1D7"/>
    </a:accent2>
    <a:accent3>
      <a:srgbClr val="4EC9F6"/>
    </a:accent3>
    <a:accent4>
      <a:srgbClr val="5B8FF9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自定义 99">
    <a:dk1>
      <a:srgbClr val="000000"/>
    </a:dk1>
    <a:lt1>
      <a:srgbClr val="FFFFFF"/>
    </a:lt1>
    <a:dk2>
      <a:srgbClr val="44546A"/>
    </a:dk2>
    <a:lt2>
      <a:srgbClr val="E7E6E6"/>
    </a:lt2>
    <a:accent1>
      <a:srgbClr val="FF8D41"/>
    </a:accent1>
    <a:accent2>
      <a:srgbClr val="F7C1D7"/>
    </a:accent2>
    <a:accent3>
      <a:srgbClr val="4EC9F6"/>
    </a:accent3>
    <a:accent4>
      <a:srgbClr val="5B8FF9"/>
    </a:accent4>
    <a:accent5>
      <a:srgbClr val="30C0B4"/>
    </a:accent5>
    <a:accent6>
      <a:srgbClr val="E54C5E"/>
    </a:accent6>
    <a:hlink>
      <a:srgbClr val="0026E5"/>
    </a:hlink>
    <a:folHlink>
      <a:srgbClr val="7E1FAD"/>
    </a:folHlink>
  </a:clrScheme>
  <a:fontScheme name="WPS">
    <a:majorFont>
      <a:latin typeface="Calibri Light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WPS">
    <a:fillStyleLst>
      <a:solidFill>
        <a:schemeClr val="phClr"/>
      </a:solidFill>
      <a:gradFill>
        <a:gsLst>
          <a:gs pos="0">
            <a:schemeClr val="phClr">
              <a:lumOff val="17500"/>
            </a:schemeClr>
          </a:gs>
          <a:gs pos="100000">
            <a:schemeClr val="phClr"/>
          </a:gs>
        </a:gsLst>
        <a:lin ang="2700000" scaled="0"/>
      </a:gradFill>
      <a:gradFill>
        <a:gsLst>
          <a:gs pos="0">
            <a:schemeClr val="phClr">
              <a:hueOff val="-2520000"/>
            </a:schemeClr>
          </a:gs>
          <a:gs pos="100000">
            <a:schemeClr val="phClr"/>
          </a:gs>
        </a:gsLst>
        <a:lin ang="2700000" scaled="0"/>
      </a:gradFill>
    </a:fillStyleLst>
    <a:lnStyleLst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2700" cap="flat" cmpd="sng" algn="ctr">
        <a:gradFill>
          <a:gsLst>
            <a:gs pos="0">
              <a:schemeClr val="phClr">
                <a:hueOff val="-4200000"/>
              </a:schemeClr>
            </a:gs>
            <a:gs pos="100000">
              <a:schemeClr val="phClr"/>
            </a:gs>
          </a:gsLst>
          <a:lin ang="2700000" scaled="1"/>
        </a:gradFill>
        <a:prstDash val="solid"/>
        <a:miter lim="800000"/>
      </a:ln>
    </a:lnStyleLst>
    <a:effectStyleLst>
      <a:effectStyle>
        <a:effectLst>
          <a:outerShdw blurRad="101600" dist="50800" dir="5400000" algn="ctr" rotWithShape="0">
            <a:schemeClr val="phClr">
              <a:alpha val="60000"/>
            </a:schemeClr>
          </a:outerShdw>
        </a:effectLst>
      </a:effectStyle>
      <a:effectStyle>
        <a:effectLst>
          <a:reflection stA="50000" endA="300" endPos="40000" dist="25400" dir="5400000" sy="-100000" algn="bl" rotWithShape="0"/>
        </a:effectLst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2024</Words>
  <Application>Microsoft Office PowerPoint</Application>
  <PresentationFormat>宽屏</PresentationFormat>
  <Paragraphs>493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等线</vt:lpstr>
      <vt:lpstr>微软雅黑</vt:lpstr>
      <vt:lpstr>Arial</vt:lpstr>
      <vt:lpstr>Calibri</vt:lpstr>
      <vt:lpstr>Calibri Light</vt:lpstr>
      <vt:lpstr>Wingdings</vt:lpstr>
      <vt:lpstr>清风素材 https://12sc.taobao.com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大侠素材铺</dc:title>
  <dc:creator>Administrator</dc:creator>
  <cp:lastModifiedBy>泽曦 胡</cp:lastModifiedBy>
  <cp:revision>397</cp:revision>
  <dcterms:created xsi:type="dcterms:W3CDTF">2025-10-20T02:27:00Z</dcterms:created>
  <dcterms:modified xsi:type="dcterms:W3CDTF">2026-06-26T03:17:12Z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F8E648E81A3440C885DF9B1E58CF5D75_13</vt:lpwstr>
  </property>
</Properties>
</file>